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22"/>
    <p:sldId id="272" r:id="rId23"/>
    <p:sldId id="273" r:id="rId24"/>
    <p:sldId id="274" r:id="rId25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5" r:id="rId2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17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 CRYPTOGRAPHIC PROTOCOL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Device Pairing &amp; Proximity Exchange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862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classical + post-quantum cryptographic pairing protocol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489204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587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40080" y="4892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X25519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83080" y="489204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5875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783080" y="4892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ML-KEM-768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489204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5875">
            <a:solidFill>
              <a:srgbClr val="0E9F7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3337560" y="48920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HKDF-SHA256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83480" y="489204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5875">
            <a:solidFill>
              <a:srgbClr val="C77A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983480" y="4892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7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ASCON-128a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1737360"/>
            <a:ext cx="3200400" cy="3200400"/>
          </a:xfrm>
          <a:prstGeom prst="ellipse">
            <a:avLst/>
          </a:prstGeom>
          <a:solidFill>
            <a:srgbClr val="0E9F74">
              <a:alpha val="8000"/>
            </a:srgbClr>
          </a:solidFill>
          <a:ln w="12700">
            <a:solidFill>
              <a:srgbClr val="0E9F7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458200" y="2331720"/>
            <a:ext cx="2011680" cy="2011680"/>
          </a:xfrm>
          <a:prstGeom prst="ellipse">
            <a:avLst/>
          </a:prstGeom>
          <a:solidFill>
            <a:srgbClr val="0E9F74">
              <a:alpha val="15000"/>
            </a:srgbClr>
          </a:solidFill>
          <a:ln w="12700">
            <a:solidFill>
              <a:srgbClr val="0E9F7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915400" y="2788920"/>
            <a:ext cx="1097280" cy="1097280"/>
          </a:xfrm>
          <a:prstGeom prst="ellipse">
            <a:avLst/>
          </a:prstGeom>
          <a:solidFill>
            <a:srgbClr val="C77A00">
              <a:alpha val="30000"/>
            </a:srgbClr>
          </a:solidFill>
          <a:ln w="12700">
            <a:solidFill>
              <a:srgbClr val="C77A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223760" y="1965960"/>
            <a:ext cx="1325880" cy="2743200"/>
          </a:xfrm>
          <a:prstGeom prst="roundRect">
            <a:avLst>
              <a:gd name="adj" fmla="val 12414"/>
            </a:avLst>
          </a:prstGeom>
          <a:solidFill>
            <a:srgbClr val="E6EBF3"/>
          </a:solidFill>
          <a:ln w="254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360920" y="2240280"/>
            <a:ext cx="1051560" cy="2103120"/>
          </a:xfrm>
          <a:prstGeom prst="roundRect">
            <a:avLst>
              <a:gd name="adj" fmla="val 5217"/>
            </a:avLst>
          </a:prstGeom>
          <a:solidFill>
            <a:srgbClr val="F4F6FA"/>
          </a:solidFill>
          <a:ln w="12700">
            <a:solidFill>
              <a:srgbClr val="D3DAE6"/>
            </a:solidFill>
            <a:prstDash val="solid"/>
          </a:ln>
        </p:spPr>
        <p:txBody>
          <a:bodyPr/>
          <a:p/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2088" y="2788920"/>
            <a:ext cx="640080" cy="64008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7223760" y="48463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378440" y="1965960"/>
            <a:ext cx="1325880" cy="2743200"/>
          </a:xfrm>
          <a:prstGeom prst="roundRect">
            <a:avLst>
              <a:gd name="adj" fmla="val 12414"/>
            </a:avLst>
          </a:prstGeom>
          <a:solidFill>
            <a:srgbClr val="E6EBF3"/>
          </a:solidFill>
          <a:ln w="254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515600" y="2240280"/>
            <a:ext cx="1051560" cy="2103120"/>
          </a:xfrm>
          <a:prstGeom prst="roundRect">
            <a:avLst>
              <a:gd name="adj" fmla="val 5217"/>
            </a:avLst>
          </a:prstGeom>
          <a:solidFill>
            <a:srgbClr val="F4F6FA"/>
          </a:solidFill>
          <a:ln w="12700">
            <a:solidFill>
              <a:srgbClr val="D3DAE6"/>
            </a:solidFill>
            <a:prstDash val="solid"/>
          </a:ln>
        </p:spPr>
        <p:txBody>
          <a:bodyPr/>
          <a:p/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2788920"/>
            <a:ext cx="640080" cy="64008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0378440" y="48463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B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595360" y="3337560"/>
            <a:ext cx="320040" cy="0"/>
          </a:xfrm>
          <a:prstGeom prst="line">
            <a:avLst/>
          </a:prstGeom>
          <a:noFill/>
          <a:ln w="19050">
            <a:solidFill>
              <a:srgbClr val="0E9F74"/>
            </a:solidFill>
            <a:prstDash val="dash"/>
          </a:ln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10012680" y="3337560"/>
            <a:ext cx="320040" cy="0"/>
          </a:xfrm>
          <a:prstGeom prst="line">
            <a:avLst/>
          </a:prstGeom>
          <a:noFill/>
          <a:ln w="19050">
            <a:solidFill>
              <a:srgbClr val="0E9F74"/>
            </a:solidFill>
            <a:prstDash val="dash"/>
          </a:ln>
        </p:spPr>
        <p:txBody>
          <a:bodyPr/>
          <a:p/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30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adversaries, one pairing channel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4F6FA"/>
          </a:solidFill>
          <a:ln w="12700">
            <a:solidFill>
              <a:srgbClr val="D3DA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28800"/>
            <a:ext cx="914400" cy="914400"/>
          </a:xfrm>
          <a:prstGeom prst="ellipse">
            <a:avLst/>
          </a:prstGeom>
          <a:solidFill>
            <a:srgbClr val="E6EBF3"/>
          </a:solidFill>
          <a:ln w="12700">
            <a:solidFill>
              <a:srgbClr val="C77A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5740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834640" y="21031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5875">
            <a:solidFill>
              <a:srgbClr val="C77A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834640" y="21031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7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PASSIVE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971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C7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Eavesdropper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4747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all network traffic, hoping to read the data now or decrypt it later.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43400" y="15087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4F6FA"/>
          </a:solidFill>
          <a:ln w="12700">
            <a:solidFill>
              <a:srgbClr val="D3DA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1828800"/>
            <a:ext cx="914400" cy="914400"/>
          </a:xfrm>
          <a:prstGeom prst="ellipse">
            <a:avLst/>
          </a:prstGeom>
          <a:solidFill>
            <a:srgbClr val="E6EBF3"/>
          </a:solidFill>
          <a:ln w="12700">
            <a:solidFill>
              <a:srgbClr val="D93045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057400"/>
            <a:ext cx="457200" cy="457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629400" y="21031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5875">
            <a:solidFill>
              <a:srgbClr val="D9304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629400" y="21031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30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4663440" y="2971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D93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Man-in-the-Middle</a:t>
            </a:r>
            <a:endParaRPr lang="en-US" sz="2100" dirty="0"/>
          </a:p>
        </p:txBody>
      </p:sp>
      <p:sp>
        <p:nvSpPr>
          <p:cNvPr id="17" name="Text 13"/>
          <p:cNvSpPr txBox="1"/>
          <p:nvPr/>
        </p:nvSpPr>
        <p:spPr>
          <a:xfrm>
            <a:off x="4663440" y="34747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between the two devices and substitutes its own keys so each side unknowingly talks to the attacker.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8138160" y="15087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4F6FA"/>
          </a:solidFill>
          <a:ln w="12700">
            <a:solidFill>
              <a:srgbClr val="D3DAE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458200" y="1828800"/>
            <a:ext cx="914400" cy="914400"/>
          </a:xfrm>
          <a:prstGeom prst="ellipse">
            <a:avLst/>
          </a:prstGeom>
          <a:solidFill>
            <a:srgbClr val="E6EBF3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057400"/>
            <a:ext cx="457200" cy="4572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0424160" y="21031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10424160" y="21031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8458200" y="2971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Adversary</a:t>
            </a:r>
            <a:endParaRPr lang="en-US" sz="2100" dirty="0"/>
          </a:p>
        </p:txBody>
      </p:sp>
      <p:sp>
        <p:nvSpPr>
          <p:cNvPr id="24" name="Text 19"/>
          <p:cNvSpPr txBox="1"/>
          <p:nvPr/>
        </p:nvSpPr>
        <p:spPr>
          <a:xfrm>
            <a:off x="8458200" y="34747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quantum computer to break classical crypto — including traffic recorded years earlier.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5440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0E9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Solving all three requires more than one algorithm.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9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THE CRYPTO STACK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primitives, layered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589520" cy="987552"/>
          </a:xfrm>
          <a:prstGeom prst="roundRect">
            <a:avLst>
              <a:gd name="adj" fmla="val 9259"/>
            </a:avLst>
          </a:prstGeom>
          <a:solidFill>
            <a:srgbClr val="F4F6FA"/>
          </a:solidFill>
          <a:ln w="19050">
            <a:solidFill>
              <a:srgbClr val="C77A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28216"/>
            <a:ext cx="457200" cy="457200"/>
          </a:xfrm>
          <a:prstGeom prst="ellipse">
            <a:avLst/>
          </a:prstGeom>
          <a:solidFill>
            <a:srgbClr val="C77A00"/>
          </a:solidFill>
          <a:ln w="12700">
            <a:solidFill>
              <a:srgbClr val="C77A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28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77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ASCON-128a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933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and authenticates data with the session key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1591056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Defends against snooping and tampering — the message stays private and any modification is detected.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" y="2633472"/>
            <a:ext cx="7370064" cy="987552"/>
          </a:xfrm>
          <a:prstGeom prst="roundRect">
            <a:avLst>
              <a:gd name="adj" fmla="val 9259"/>
            </a:avLst>
          </a:prstGeom>
          <a:solidFill>
            <a:srgbClr val="F4F6FA"/>
          </a:solidFill>
          <a:ln w="19050">
            <a:solidFill>
              <a:srgbClr val="0E9F7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968" y="2898648"/>
            <a:ext cx="457200" cy="457200"/>
          </a:xfrm>
          <a:prstGeom prst="ellipse">
            <a:avLst/>
          </a:prstGeom>
          <a:solidFill>
            <a:srgbClr val="0E9F74"/>
          </a:solidFill>
          <a:ln w="12700">
            <a:solidFill>
              <a:srgbClr val="0E9F7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68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27048" y="27980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9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HKDF-SHA256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527048" y="31638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both secrets into one key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13048" y="2761488"/>
            <a:ext cx="3986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Defends against a single broken input — the session key stays strong while either secret holds.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8096" y="3803904"/>
            <a:ext cx="7150608" cy="987552"/>
          </a:xfrm>
          <a:prstGeom prst="roundRect">
            <a:avLst>
              <a:gd name="adj" fmla="val 9259"/>
            </a:avLst>
          </a:prstGeom>
          <a:solidFill>
            <a:srgbClr val="F4F6F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6696" y="406908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96696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636776" y="39684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ML-KEM-768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636776" y="43342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key encapsulation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922776" y="3931920"/>
            <a:ext cx="3767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Defends against quantum adversaries — lattice math that Shor’s algorithm cannot shortcut.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77824" y="4974336"/>
            <a:ext cx="6931152" cy="987552"/>
          </a:xfrm>
          <a:prstGeom prst="roundRect">
            <a:avLst>
              <a:gd name="adj" fmla="val 9259"/>
            </a:avLst>
          </a:prstGeom>
          <a:solidFill>
            <a:srgbClr val="F4F6F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06424" y="523951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06424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746504" y="51389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X25519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746504" y="55046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key agreement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032504" y="5102352"/>
            <a:ext cx="3547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Defends against today’s attackers with fast, mature elliptic-curve Diffie-Hellman.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503920" y="1463040"/>
            <a:ext cx="3136392" cy="4498848"/>
          </a:xfrm>
          <a:prstGeom prst="roundRect">
            <a:avLst>
              <a:gd name="adj" fmla="val 2915"/>
            </a:avLst>
          </a:prstGeom>
          <a:solidFill>
            <a:srgbClr val="E6EBF3"/>
          </a:solidFill>
          <a:ln w="19050">
            <a:solidFill>
              <a:srgbClr val="0E9F74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737360"/>
            <a:ext cx="502920" cy="502920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8778240" y="2377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9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in depth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8778240" y="2834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X25519 alone is not enough.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8778240" y="34747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must break both X25519 and ML-KEM-768 simultaneously to recover the session key.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8778240" y="489204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778240" y="48920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X25519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9857232" y="4892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10378440" y="489204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378440" y="48920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ML-KEM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1722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→ top: key agreement → key derivation → encryption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X25519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Elliptic Curve Diffie-Hellman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Curve25519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elliptic curve over the prime field 2²⁵⁵ − 19, designed by Daniel J. Bernstein. X25519 is Diffie-Hellman key agreement on this curve.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640080" cy="640080"/>
          </a:xfrm>
          <a:prstGeom prst="ellipse">
            <a:avLst/>
          </a:prstGeom>
          <a:solidFill>
            <a:srgbClr val="E6EBF3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182112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3017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3337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Constant-time Montgomery ladder — fast even on phones and embedded chips.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023360"/>
            <a:ext cx="640080" cy="640080"/>
          </a:xfrm>
          <a:prstGeom prst="ellipse">
            <a:avLst/>
          </a:prstGeom>
          <a:solidFill>
            <a:srgbClr val="E6EBF3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18795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4023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Side-channel resistant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371600" y="4343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secret-dependent branches or memory lookups to leak timing.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5029200"/>
            <a:ext cx="640080" cy="640080"/>
          </a:xfrm>
          <a:prstGeom prst="ellipse">
            <a:avLst/>
          </a:prstGeom>
          <a:solidFill>
            <a:srgbClr val="E6EBF3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19379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5029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weak parameters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371600" y="5349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Rigid, fully explained constants — nothing hidden, every 32-byte key is valid.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035040" y="1508760"/>
            <a:ext cx="5605272" cy="3063240"/>
          </a:xfrm>
          <a:prstGeom prst="roundRect">
            <a:avLst>
              <a:gd name="adj" fmla="val 2985"/>
            </a:avLst>
          </a:prstGeom>
          <a:solidFill>
            <a:srgbClr val="F4F6FA"/>
          </a:solidFill>
          <a:ln w="12700">
            <a:solidFill>
              <a:srgbClr val="D3DAE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30936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MATH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309360" y="205740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 generates:  </a:t>
            </a:r>
            <a:pPr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(private scalar)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pPr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a·G</a:t>
            </a:r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(public key)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 generates:    </a:t>
            </a:r>
            <a:pPr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(private scalar)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pPr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b·G</a:t>
            </a:r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(public key)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 secret:    </a:t>
            </a:r>
            <a:pPr indent="0" marL="0">
              <a:buNone/>
            </a:pPr>
            <a:r>
              <a:rPr lang="en-US" sz="1400" dirty="0">
                <a:solidFill>
                  <a:srgbClr val="0E9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a·B = b·A = ab·G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base point of Curve25519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035040" y="4800600"/>
            <a:ext cx="5605272" cy="1508760"/>
          </a:xfrm>
          <a:prstGeom prst="roundRect">
            <a:avLst>
              <a:gd name="adj" fmla="val 6061"/>
            </a:avLst>
          </a:prstGeom>
          <a:solidFill>
            <a:srgbClr val="E6EBF3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309360" y="4956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6309360" y="52578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eavesdropper sees A and B but cannot compute ab·G — the Elliptic Curve Discrete Logarithm Problem.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ML-KEM-768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Post-Quantum Key Encapsulation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206240" cy="2514600"/>
          </a:xfrm>
          <a:prstGeom prst="roundRect">
            <a:avLst>
              <a:gd name="adj" fmla="val 3636"/>
            </a:avLst>
          </a:prstGeom>
          <a:solidFill>
            <a:srgbClr val="F4F6FA"/>
          </a:solidFill>
          <a:ln w="15875">
            <a:solidFill>
              <a:srgbClr val="D9304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783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3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X25519 breaks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3703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Shor’s algorithm</a:t>
            </a:r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solves the elliptic-curve discrete log problem in polynomial time on a quantum computer.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recorded today can be decrypted once such a machine exists.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206240"/>
            <a:ext cx="4206240" cy="2103120"/>
          </a:xfrm>
          <a:prstGeom prst="roundRect">
            <a:avLst>
              <a:gd name="adj" fmla="val 4348"/>
            </a:avLst>
          </a:prstGeom>
          <a:solidFill>
            <a:srgbClr val="F4F6FA"/>
          </a:solidFill>
          <a:ln w="12700">
            <a:solidFill>
              <a:srgbClr val="D3DA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370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SIZES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75488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1184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54406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2057400" y="475488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1088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2057400" y="54406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383280" y="475488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3383280" y="54406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secret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0" y="1508760"/>
            <a:ext cx="6611112" cy="3291840"/>
          </a:xfrm>
          <a:prstGeom prst="roundRect">
            <a:avLst>
              <a:gd name="adj" fmla="val 2778"/>
            </a:avLst>
          </a:prstGeom>
          <a:solidFill>
            <a:srgbClr val="F4F6FA"/>
          </a:solidFill>
          <a:ln w="12700">
            <a:solidFill>
              <a:srgbClr val="D3DA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303520" y="16916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LEARNING WITH ERRORS (MLWE)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0" y="2057400"/>
            <a:ext cx="6217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key:  </a:t>
            </a:r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(A, b = A·s + 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A = random matrix, s = secret, e = small error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Encapsulate: 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ciphertext c, shared secret 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(A·r + e₁,  b·r + e₂ + ⌊q/2⌋·m)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Decapsulate: 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recover m from c using private 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buNone/>
            </a:pPr>
            <a:r>
              <a:rPr lang="en-US" sz="1300" dirty="0">
                <a:solidFill>
                  <a:srgbClr val="0E9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same K derived from m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029200" y="5029200"/>
            <a:ext cx="6611112" cy="1280160"/>
          </a:xfrm>
          <a:prstGeom prst="roundRect">
            <a:avLst>
              <a:gd name="adj" fmla="val 7143"/>
            </a:avLst>
          </a:prstGeom>
          <a:solidFill>
            <a:srgbClr val="E6EBF3"/>
          </a:solidFill>
          <a:ln w="19050">
            <a:solidFill>
              <a:srgbClr val="7C3AED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30952"/>
            <a:ext cx="548640" cy="54864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080760" y="5138928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known quantum algorithm breaks MLWE efficiently.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as NIST FIPS 203 (2024).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9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HKDF-SHA256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Two Secrets Into One Key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X25519 secret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ML-KEM secret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4297680" cy="658368"/>
          </a:xfrm>
          <a:prstGeom prst="line">
            <a:avLst/>
          </a:prstGeom>
          <a:noFill/>
          <a:ln w="2032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731520" y="2633472"/>
            <a:ext cx="4297680" cy="658368"/>
          </a:xfrm>
          <a:prstGeom prst="line">
            <a:avLst/>
          </a:prstGeom>
          <a:noFill/>
          <a:ln w="2032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828800"/>
            <a:ext cx="1463040" cy="1463040"/>
          </a:xfrm>
          <a:prstGeom prst="ellipse">
            <a:avLst/>
          </a:prstGeom>
          <a:solidFill>
            <a:srgbClr val="E6EBF3"/>
          </a:solidFill>
          <a:ln w="31750">
            <a:solidFill>
              <a:srgbClr val="0E9F7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8288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9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HKDF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09360" y="2560320"/>
            <a:ext cx="3291840" cy="0"/>
          </a:xfrm>
          <a:prstGeom prst="line">
            <a:avLst/>
          </a:prstGeom>
          <a:noFill/>
          <a:ln w="279400">
            <a:solidFill>
              <a:srgbClr val="0E9F7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55480" y="2240280"/>
            <a:ext cx="2084832" cy="640080"/>
          </a:xfrm>
          <a:prstGeom prst="roundRect">
            <a:avLst>
              <a:gd name="adj" fmla="val 50000"/>
            </a:avLst>
          </a:prstGeom>
          <a:solidFill>
            <a:srgbClr val="E6EBF3"/>
          </a:solidFill>
          <a:ln w="15875">
            <a:solidFill>
              <a:srgbClr val="0E9F7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55480" y="224028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9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key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bytes · single, uniform key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6766560" cy="2286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2700">
            <a:solidFill>
              <a:srgbClr val="D3DA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187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EXTRACT, THEN EXPAND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5262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PRK = HMAC-SHA256(salt, </a:t>
            </a:r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X25519_secret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∥ </a:t>
            </a:r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ML-KEM_secret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E9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session_key = HMAC-SHA256(PRK, info ∥ 0x01)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48640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7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domain-separation string (e.g. </a:t>
            </a:r>
            <a:pPr indent="0" marL="0">
              <a:buNone/>
            </a:pPr>
            <a:r>
              <a:rPr lang="en-US" sz="1300" dirty="0">
                <a:solidFill>
                  <a:srgbClr val="C77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"pairing-v1"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so keys derived for different purposes are always distinct.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89520" y="4023360"/>
            <a:ext cx="4050792" cy="2286000"/>
          </a:xfrm>
          <a:prstGeom prst="roundRect">
            <a:avLst>
              <a:gd name="adj" fmla="val 4000"/>
            </a:avLst>
          </a:prstGeom>
          <a:solidFill>
            <a:srgbClr val="E6EBF3"/>
          </a:solidFill>
          <a:ln w="19050">
            <a:solidFill>
              <a:srgbClr val="0E9F7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0" y="4187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PROPERTY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4553712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one input secret is weak or compromised, the output key is still as strong as the other input.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7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· ASCON-128a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Authenticated Encryption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F4F6FA"/>
          </a:solidFill>
          <a:ln w="12700">
            <a:solidFill>
              <a:srgbClr val="C77A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7190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seals plaintext with key + fresh nonce; KEM ciphertext bound as AD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005072" y="2354580"/>
            <a:ext cx="329184" cy="0"/>
          </a:xfrm>
          <a:prstGeom prst="line">
            <a:avLst/>
          </a:prstGeom>
          <a:noFill/>
          <a:ln w="25400">
            <a:solidFill>
              <a:srgbClr val="C77A00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407408" y="146304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F4F6FA"/>
          </a:solidFill>
          <a:ln w="12700">
            <a:solidFill>
              <a:srgbClr val="D3DAE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6916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76088" y="17190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Transmit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681728" y="2286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nonce, ciphertext and tag cross the untrusted network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863840" y="2354580"/>
            <a:ext cx="329184" cy="0"/>
          </a:xfrm>
          <a:prstGeom prst="line">
            <a:avLst/>
          </a:prstGeom>
          <a:noFill/>
          <a:ln w="25400">
            <a:solidFill>
              <a:srgbClr val="C77A00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8266176" y="146304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F4F6FA"/>
          </a:solidFill>
          <a:ln w="12700">
            <a:solidFill>
              <a:srgbClr val="0E9F7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16916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34856" y="17190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Decrypt + Verify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540496" y="2286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checks the tag first — any altered byte means rejection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3566160"/>
            <a:ext cx="384048" cy="384048"/>
          </a:xfrm>
          <a:prstGeom prst="ellipse">
            <a:avLst/>
          </a:prstGeom>
          <a:solidFill>
            <a:srgbClr val="C77A00"/>
          </a:solidFill>
          <a:ln w="12700">
            <a:solidFill>
              <a:srgbClr val="C77A00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486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1097280" y="35204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1097280" y="381304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reveals nothing about the plaintext.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4407408"/>
            <a:ext cx="384048" cy="384048"/>
          </a:xfrm>
          <a:prstGeom prst="ellipse">
            <a:avLst/>
          </a:prstGeom>
          <a:solidFill>
            <a:srgbClr val="C77A00"/>
          </a:solidFill>
          <a:ln w="12700">
            <a:solidFill>
              <a:srgbClr val="C77A00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4864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1097280" y="43616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1097280" y="465429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authentication tag detects any tampering in transit.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548640" y="5248656"/>
            <a:ext cx="384048" cy="384048"/>
          </a:xfrm>
          <a:prstGeom prst="ellipse">
            <a:avLst/>
          </a:prstGeom>
          <a:solidFill>
            <a:srgbClr val="C77A00"/>
          </a:solidFill>
          <a:ln w="12700">
            <a:solidFill>
              <a:srgbClr val="C77A00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548640" y="5248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1097280" y="52029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Associated data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1097280" y="549554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KEM ciphertext is authenticated without being encrypted — any modification is caught.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548640" y="60533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ASCON won the NIST Lightweight Cryptography competition (2023).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5943600" y="3520440"/>
            <a:ext cx="5696712" cy="1783080"/>
          </a:xfrm>
          <a:prstGeom prst="roundRect">
            <a:avLst>
              <a:gd name="adj" fmla="val 5128"/>
            </a:avLst>
          </a:prstGeom>
          <a:solidFill>
            <a:srgbClr val="F4F6FA"/>
          </a:solidFill>
          <a:ln w="12700">
            <a:solidFill>
              <a:srgbClr val="D3DAE6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172200" y="370332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Encrypt:  </a:t>
            </a:r>
            <a:pPr indent="0" marL="0">
              <a:buNone/>
            </a:pPr>
            <a:r>
              <a:rPr lang="en-US" sz="1050" dirty="0">
                <a:solidFill>
                  <a:srgbClr val="C77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(ciphertext, tag) = ASCON(key, nonce, plaintext, AD)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Decrypt:  </a:t>
            </a:r>
            <a:pPr indent="0" marL="0">
              <a:buNone/>
            </a:pPr>
            <a:r>
              <a:rPr lang="en-US" sz="1050" dirty="0">
                <a:solidFill>
                  <a:srgbClr val="0E9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plaintext = ASCON⁻¹(key, nonce, ciphertext, AD)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buNone/>
            </a:pPr>
            <a:r>
              <a:rPr lang="en-US" sz="1050" dirty="0">
                <a:solidFill>
                  <a:srgbClr val="D930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FAILS if tag doesn’t match (tamper detected)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943600" y="5486400"/>
            <a:ext cx="5696712" cy="841248"/>
          </a:xfrm>
          <a:prstGeom prst="roundRect">
            <a:avLst>
              <a:gd name="adj" fmla="val 10870"/>
            </a:avLst>
          </a:prstGeom>
          <a:solidFill>
            <a:srgbClr val="E6EBF3"/>
          </a:solidFill>
          <a:ln w="19050">
            <a:solidFill>
              <a:srgbClr val="C77A00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172200" y="5532120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Nonce must never repeat with the same key — a fresh random nonce is generated for every message.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ull device pairing flowchart: Device A and Device B swim lanes with the network channel between them, steps 01 to 15 ending in Pairing Complet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9818" y="182880"/>
            <a:ext cx="3427557" cy="6492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7529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9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· FULL DEVICE PAIRING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77240"/>
            <a:ext cx="75296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pairing protocol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08760"/>
            <a:ext cx="75296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 publishes its public keys out-of-band via QR. Device B derives a hybrid session key and sends back one encrypted message. The session key never crosses the network.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64261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64261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01–03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606040"/>
            <a:ext cx="6478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880360"/>
            <a:ext cx="6478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X25519 + ML-KEM-768 keypairs and shows them as a QR code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300984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5875">
            <a:solidFill>
              <a:srgbClr val="0E969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30098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3264408"/>
            <a:ext cx="6478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9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Out-of-band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600200" y="3538728"/>
            <a:ext cx="6478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 scans the QR from A’s screen — never over the network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95935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95935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05–09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1600200" y="3922776"/>
            <a:ext cx="6478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600200" y="4197096"/>
            <a:ext cx="6478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 + Encaps → HKDF session key → ASCON-encrypts its own keys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461772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5875">
            <a:solidFill>
              <a:srgbClr val="C77A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46177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77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600200" y="4581144"/>
            <a:ext cx="6478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7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wire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600200" y="4855464"/>
            <a:ext cx="6478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B_pub, kem_ct, nonce and ct — useless without a private key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527608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527608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11–14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1600200" y="5239512"/>
            <a:ext cx="6478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600200" y="5513832"/>
            <a:ext cx="6478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Decaps + DH → identical session key → decrypts, tag verified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48640" y="593445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5875">
            <a:solidFill>
              <a:srgbClr val="0E9F7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48640" y="593445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9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1600200" y="5897880"/>
            <a:ext cx="6478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9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600200" y="6172200"/>
            <a:ext cx="6478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screens show the same SHA-256 fingerprint → pairing complete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ITM attack flowchart: Device A, Attacker (Eve) and Device B lanes, showing where the attack breaks at the out-of-band QR scan and the fingerprint mismatch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8204" y="182880"/>
            <a:ext cx="4899171" cy="6492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6058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30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· MITM ATTACK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77240"/>
            <a:ext cx="60580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MITM attack &amp; why it fails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08760"/>
            <a:ext cx="60580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 tries to swap in her own keys and relay traffic between the devices. Two independent defences stop her.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423160"/>
            <a:ext cx="6058084" cy="1417320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 w="15875">
            <a:solidFill>
              <a:srgbClr val="D9304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624328"/>
            <a:ext cx="365760" cy="365760"/>
          </a:xfrm>
          <a:prstGeom prst="ellipse">
            <a:avLst/>
          </a:prstGeom>
          <a:solidFill>
            <a:srgbClr val="D93045"/>
          </a:solidFill>
          <a:ln w="12700">
            <a:solidFill>
              <a:srgbClr val="D9304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624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606040"/>
            <a:ext cx="50522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3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QR is out-of-band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108960"/>
            <a:ext cx="56008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 has no access to Device A’s physical screen. B always scans the real </a:t>
            </a:r>
            <a:pPr indent="0" marL="0">
              <a:buNone/>
            </a:pPr>
            <a:r>
              <a:rPr lang="en-US" sz="1400" dirty="0">
                <a:solidFill>
                  <a:srgbClr val="C77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A_pub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directly — the scan is the trust anchor.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023360"/>
            <a:ext cx="6058084" cy="1417320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 w="15875">
            <a:solidFill>
              <a:srgbClr val="D9304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4224528"/>
            <a:ext cx="365760" cy="365760"/>
          </a:xfrm>
          <a:prstGeom prst="ellipse">
            <a:avLst/>
          </a:prstGeom>
          <a:solidFill>
            <a:srgbClr val="D93045"/>
          </a:solidFill>
          <a:ln w="12700">
            <a:solidFill>
              <a:srgbClr val="D9304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4206240"/>
            <a:ext cx="50522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3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mismatch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709160"/>
            <a:ext cx="56008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keys were substituted, </a:t>
            </a:r>
            <a:pPr indent="0" marL="0">
              <a:buNone/>
            </a:pPr>
            <a:r>
              <a:rPr lang="en-US" sz="1400" dirty="0">
                <a:solidFill>
                  <a:srgbClr val="C77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fp_A ≠ fp_B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Reading the fingerprints aloud exposes the attack immediately.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5623560"/>
            <a:ext cx="6058084" cy="868680"/>
          </a:xfrm>
          <a:prstGeom prst="roundRect">
            <a:avLst>
              <a:gd name="adj" fmla="val 10526"/>
            </a:avLst>
          </a:prstGeom>
          <a:solidFill>
            <a:srgbClr val="FDECEE"/>
          </a:solidFill>
          <a:ln w="19050">
            <a:solidFill>
              <a:srgbClr val="D9304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5623560"/>
            <a:ext cx="56008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 blocked: both defences must be defeated at once — physically and computationally infeasible.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9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· OUT-OF-BAND CHANNEL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QR code never touches the network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669280" cy="4846320"/>
          </a:xfrm>
          <a:prstGeom prst="roundRect">
            <a:avLst>
              <a:gd name="adj" fmla="val 1887"/>
            </a:avLst>
          </a:prstGeom>
          <a:solidFill>
            <a:srgbClr val="F4F6FA"/>
          </a:solidFill>
          <a:ln w="12700">
            <a:solidFill>
              <a:srgbClr val="D3DA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926080"/>
            <a:ext cx="1280160" cy="2468880"/>
          </a:xfrm>
          <a:prstGeom prst="roundRect">
            <a:avLst>
              <a:gd name="adj" fmla="val 11429"/>
            </a:avLst>
          </a:prstGeom>
          <a:solidFill>
            <a:srgbClr val="E6EBF3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07592" y="3182112"/>
            <a:ext cx="1042416" cy="1874520"/>
          </a:xfrm>
          <a:prstGeom prst="roundRect">
            <a:avLst>
              <a:gd name="adj" fmla="val 4386"/>
            </a:avLst>
          </a:prstGeom>
          <a:solidFill>
            <a:srgbClr val="F4F6FA"/>
          </a:solidFill>
          <a:ln w="12700">
            <a:solidFill>
              <a:srgbClr val="D3DAE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3794760"/>
            <a:ext cx="64008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06240" y="2926080"/>
            <a:ext cx="1280160" cy="2468880"/>
          </a:xfrm>
          <a:prstGeom prst="roundRect">
            <a:avLst>
              <a:gd name="adj" fmla="val 11429"/>
            </a:avLst>
          </a:prstGeom>
          <a:solidFill>
            <a:srgbClr val="E6EBF3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25112" y="3182112"/>
            <a:ext cx="1042416" cy="1874520"/>
          </a:xfrm>
          <a:prstGeom prst="roundRect">
            <a:avLst>
              <a:gd name="adj" fmla="val 4386"/>
            </a:avLst>
          </a:prstGeom>
          <a:solidFill>
            <a:srgbClr val="F4F6FA"/>
          </a:solidFill>
          <a:ln w="12700">
            <a:solidFill>
              <a:srgbClr val="D3DA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25112" y="3931920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scanning…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 flipV="1">
            <a:off x="2011680" y="2057400"/>
            <a:ext cx="1005840" cy="777240"/>
          </a:xfrm>
          <a:prstGeom prst="line">
            <a:avLst/>
          </a:prstGeom>
          <a:noFill/>
          <a:ln w="25400">
            <a:solidFill>
              <a:srgbClr val="0E9F74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3749040" y="2057400"/>
            <a:ext cx="914400" cy="777240"/>
          </a:xfrm>
          <a:prstGeom prst="line">
            <a:avLst/>
          </a:prstGeom>
          <a:noFill/>
          <a:ln w="25400">
            <a:solidFill>
              <a:srgbClr val="0E9F74"/>
            </a:solidFill>
            <a:prstDash val="dash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017520" y="169164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0E9F74"/>
          </a:solidFill>
          <a:ln w="12700">
            <a:solidFill>
              <a:srgbClr val="0E9F74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783080"/>
            <a:ext cx="548640" cy="5486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331720" y="256032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5875">
            <a:solidFill>
              <a:srgbClr val="D93045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331720" y="25603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30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OVER NETWORK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188720" y="5486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A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4206240" y="5486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B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58521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proximity · line-of-sight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658368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 SURFACE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583680" y="1874520"/>
            <a:ext cx="5056632" cy="960120"/>
          </a:xfrm>
          <a:prstGeom prst="roundRect">
            <a:avLst>
              <a:gd name="adj" fmla="val 9524"/>
            </a:avLst>
          </a:prstGeom>
          <a:solidFill>
            <a:srgbClr val="F4F6FA"/>
          </a:solidFill>
          <a:ln w="15875">
            <a:solidFill>
              <a:srgbClr val="D93045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10312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543800" y="19659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channel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can read, modify, replay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6583680" y="3017520"/>
            <a:ext cx="5056632" cy="960120"/>
          </a:xfrm>
          <a:prstGeom prst="roundRect">
            <a:avLst>
              <a:gd name="adj" fmla="val 9524"/>
            </a:avLst>
          </a:prstGeom>
          <a:solidFill>
            <a:srgbClr val="F4F6FA"/>
          </a:solidFill>
          <a:ln w="15875">
            <a:solidFill>
              <a:srgbClr val="0E9F74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3246120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543800" y="31089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physical proximity and line-of-sight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6583680" y="4251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9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sufficient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6583680" y="466344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carries only ciphertext and KEM encapsulations. The keys themselves are bootstrapped entirely through the QR, so an attacker with no physical access cannot substitute keys.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· FORWARD SECRECY &amp; PROXIMITY RECONNECT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keys every encounter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114800" cy="4846320"/>
          </a:xfrm>
          <a:prstGeom prst="roundRect">
            <a:avLst>
              <a:gd name="adj" fmla="val 2222"/>
            </a:avLst>
          </a:prstGeom>
          <a:solidFill>
            <a:srgbClr val="F4F6FA"/>
          </a:solidFill>
          <a:ln w="15875">
            <a:solidFill>
              <a:srgbClr val="D9304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317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3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with long-term keys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0896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same key is used every session and later leaked, every past session is decryptable.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4480560"/>
            <a:ext cx="731520" cy="502920"/>
          </a:xfrm>
          <a:prstGeom prst="roundRect">
            <a:avLst>
              <a:gd name="adj" fmla="val 10909"/>
            </a:avLst>
          </a:prstGeom>
          <a:solidFill>
            <a:srgbClr val="E6EBF3"/>
          </a:solidFill>
          <a:ln w="12700">
            <a:solidFill>
              <a:srgbClr val="D930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4805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30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691640" y="4480560"/>
            <a:ext cx="731520" cy="502920"/>
          </a:xfrm>
          <a:prstGeom prst="roundRect">
            <a:avLst>
              <a:gd name="adj" fmla="val 10909"/>
            </a:avLst>
          </a:prstGeom>
          <a:solidFill>
            <a:srgbClr val="E6EBF3"/>
          </a:solidFill>
          <a:ln w="12700">
            <a:solidFill>
              <a:srgbClr val="D9304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691640" y="44805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30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560320" y="4480560"/>
            <a:ext cx="731520" cy="502920"/>
          </a:xfrm>
          <a:prstGeom prst="roundRect">
            <a:avLst>
              <a:gd name="adj" fmla="val 10909"/>
            </a:avLst>
          </a:prstGeom>
          <a:solidFill>
            <a:srgbClr val="E6EBF3"/>
          </a:solidFill>
          <a:ln w="12700">
            <a:solidFill>
              <a:srgbClr val="D9304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560320" y="44805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30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429000" y="4480560"/>
            <a:ext cx="731520" cy="502920"/>
          </a:xfrm>
          <a:prstGeom prst="roundRect">
            <a:avLst>
              <a:gd name="adj" fmla="val 10909"/>
            </a:avLst>
          </a:prstGeom>
          <a:solidFill>
            <a:srgbClr val="E6EBF3"/>
          </a:solidFill>
          <a:ln w="12700">
            <a:solidFill>
              <a:srgbClr val="D9304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429000" y="44805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30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51206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one leaked key → all sessions exposed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937760" y="1463040"/>
            <a:ext cx="6702552" cy="2377440"/>
          </a:xfrm>
          <a:prstGeom prst="roundRect">
            <a:avLst>
              <a:gd name="adj" fmla="val 3846"/>
            </a:avLst>
          </a:prstGeom>
          <a:solidFill>
            <a:srgbClr val="F4F6FA"/>
          </a:solidFill>
          <a:ln w="12700">
            <a:solidFill>
              <a:srgbClr val="D3DA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212080" y="162763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9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 · EPHEMERAL KEYS, EACH ENCOUNTER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212080" y="1965960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A generates fresh:  </a:t>
            </a:r>
            <a:pPr indent="0" marL="0">
              <a:buNone/>
            </a:pPr>
            <a:r>
              <a:rPr lang="en-US" sz="11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eph_x_priv, eph_x_pub</a:t>
            </a:r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(X25519)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</a:t>
            </a:r>
            <a:pPr indent="0" marL="0">
              <a:buNone/>
            </a:pPr>
            <a:r>
              <a:rPr lang="en-US" sz="11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eph_pq</a:t>
            </a:r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(ML-KEM)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E9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session_key = HKDF(eph_x_priv·B_eph_pub ∥ Encaps(eph_pq_pub))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77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Keys discarded after session ends.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937760" y="4023360"/>
            <a:ext cx="6702552" cy="2286000"/>
          </a:xfrm>
          <a:prstGeom prst="roundRect">
            <a:avLst>
              <a:gd name="adj" fmla="val 4000"/>
            </a:avLst>
          </a:prstGeom>
          <a:solidFill>
            <a:srgbClr val="E6EBF3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12080" y="41605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how does Device B know it’s talking to the real Device A?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212080" y="45720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 = HMAC-SHA256( HKDF(</a:t>
            </a:r>
            <a:pPr indent="0" marL="0">
              <a:buNone/>
            </a:pPr>
            <a:r>
              <a:rPr lang="en-US" sz="11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long_term_X25519_secret</a:t>
            </a:r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device_id ∥ eph_x_pub ∥ eph_pq_pub )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5212080" y="530352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device that completed the original QR pairing knows the long-term secret needed to produce a valid MAC.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· TRUST FRAMEWORK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recognition &amp; the trust store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1463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store on Device B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3108960"/>
                <a:gridCol w="313639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device_id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X25519 public key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ML-KEM public key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long-term secret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9F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device-a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9f3c…7a21 (32 B)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b41e…c90d (1184 B)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HKDF(b_priv · A_pub)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9F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laptop-7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2d88…14ef (32 B)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77ac…0b3a (1184 B)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HKDF(b_priv · L_pub)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108960"/>
            <a:ext cx="5408676" cy="2697480"/>
          </a:xfrm>
          <a:prstGeom prst="roundRect">
            <a:avLst>
              <a:gd name="adj" fmla="val 3390"/>
            </a:avLst>
          </a:prstGeom>
          <a:solidFill>
            <a:srgbClr val="F4F6FA"/>
          </a:solidFill>
          <a:ln w="15875">
            <a:solidFill>
              <a:srgbClr val="0E9F74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73552"/>
            <a:ext cx="347472" cy="34747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34440" y="327355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804672" y="3831336"/>
            <a:ext cx="256032" cy="256032"/>
          </a:xfrm>
          <a:prstGeom prst="ellipse">
            <a:avLst/>
          </a:prstGeom>
          <a:solidFill>
            <a:srgbClr val="0E9F74"/>
          </a:solidFill>
          <a:ln w="12700">
            <a:solidFill>
              <a:srgbClr val="0E9F74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04672" y="3831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1188720" y="3794760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 receives a connection request from </a:t>
            </a:r>
            <a:pPr indent="0" marL="0">
              <a:buNone/>
            </a:pPr>
            <a:r>
              <a:rPr lang="en-US" sz="1250" dirty="0">
                <a:solidFill>
                  <a:srgbClr val="C77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device-a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804672" y="4215384"/>
            <a:ext cx="256032" cy="256032"/>
          </a:xfrm>
          <a:prstGeom prst="ellipse">
            <a:avLst/>
          </a:prstGeom>
          <a:solidFill>
            <a:srgbClr val="0E9F74"/>
          </a:solidFill>
          <a:ln w="12700">
            <a:solidFill>
              <a:srgbClr val="0E9F74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04672" y="4215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1188720" y="4178808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up </a:t>
            </a:r>
            <a:pPr indent="0" marL="0">
              <a:buNone/>
            </a:pPr>
            <a:r>
              <a:rPr lang="en-US" sz="1250" dirty="0">
                <a:solidFill>
                  <a:srgbClr val="C77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device-a</a:t>
            </a:r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trust store → FOUND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04672" y="4599432"/>
            <a:ext cx="256032" cy="256032"/>
          </a:xfrm>
          <a:prstGeom prst="ellipse">
            <a:avLst/>
          </a:prstGeom>
          <a:solidFill>
            <a:srgbClr val="0E9F74"/>
          </a:solidFill>
          <a:ln w="12700">
            <a:solidFill>
              <a:srgbClr val="0E9F74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04672" y="4599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1188720" y="4562856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Recomputes the expected MAC with the stored long-term key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04672" y="4983480"/>
            <a:ext cx="256032" cy="256032"/>
          </a:xfrm>
          <a:prstGeom prst="ellipse">
            <a:avLst/>
          </a:prstGeom>
          <a:solidFill>
            <a:srgbClr val="0E9F74"/>
          </a:solidFill>
          <a:ln w="12700">
            <a:solidFill>
              <a:srgbClr val="0E9F74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04672" y="4983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188720" y="4946904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HMAC-compare(expected, received) → match ✓ (constant-time)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04672" y="5367528"/>
            <a:ext cx="256032" cy="256032"/>
          </a:xfrm>
          <a:prstGeom prst="ellipse">
            <a:avLst/>
          </a:prstGeom>
          <a:solidFill>
            <a:srgbClr val="0E9F74"/>
          </a:solidFill>
          <a:ln w="12700">
            <a:solidFill>
              <a:srgbClr val="0E9F74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04672" y="5367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188720" y="5330952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Proceeds to the ephemeral key exchange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231636" y="3108960"/>
            <a:ext cx="5408676" cy="2697480"/>
          </a:xfrm>
          <a:prstGeom prst="roundRect">
            <a:avLst>
              <a:gd name="adj" fmla="val 3390"/>
            </a:avLst>
          </a:prstGeom>
          <a:solidFill>
            <a:srgbClr val="F4F6FA"/>
          </a:solidFill>
          <a:ln w="15875">
            <a:solidFill>
              <a:srgbClr val="D93045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236" y="3273552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917436" y="327355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3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path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6487668" y="3831336"/>
            <a:ext cx="256032" cy="256032"/>
          </a:xfrm>
          <a:prstGeom prst="ellipse">
            <a:avLst/>
          </a:prstGeom>
          <a:solidFill>
            <a:srgbClr val="D93045"/>
          </a:solidFill>
          <a:ln w="12700">
            <a:solidFill>
              <a:srgbClr val="D93045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487668" y="3831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6871716" y="3794760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device sends a request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6487668" y="4215384"/>
            <a:ext cx="256032" cy="256032"/>
          </a:xfrm>
          <a:prstGeom prst="ellipse">
            <a:avLst/>
          </a:prstGeom>
          <a:solidFill>
            <a:srgbClr val="D93045"/>
          </a:solidFill>
          <a:ln w="12700">
            <a:solidFill>
              <a:srgbClr val="D93045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6487668" y="4215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6871716" y="4178808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store lookup → NOT FOUND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6487668" y="4599432"/>
            <a:ext cx="256032" cy="256032"/>
          </a:xfrm>
          <a:prstGeom prst="ellipse">
            <a:avLst/>
          </a:prstGeom>
          <a:solidFill>
            <a:srgbClr val="D93045"/>
          </a:solidFill>
          <a:ln w="12700">
            <a:solidFill>
              <a:srgbClr val="D93045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6487668" y="4599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6871716" y="4562856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rejection — no response, no error, no information leak</a:t>
            </a:r>
            <a:endParaRPr lang="en-US" sz="1250" dirty="0"/>
          </a:p>
        </p:txBody>
      </p:sp>
      <p:sp>
        <p:nvSpPr>
          <p:cNvPr id="37" name="Shape 31"/>
          <p:cNvSpPr/>
          <p:nvPr/>
        </p:nvSpPr>
        <p:spPr>
          <a:xfrm>
            <a:off x="6487668" y="4983480"/>
            <a:ext cx="256032" cy="256032"/>
          </a:xfrm>
          <a:prstGeom prst="ellipse">
            <a:avLst/>
          </a:prstGeom>
          <a:solidFill>
            <a:srgbClr val="D93045"/>
          </a:solidFill>
          <a:ln w="12700">
            <a:solidFill>
              <a:srgbClr val="D93045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6487668" y="4983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6871716" y="4946904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would also fail independently (defense in depth)</a:t>
            </a:r>
            <a:endParaRPr lang="en-US" sz="1250" dirty="0"/>
          </a:p>
        </p:txBody>
      </p:sp>
      <p:sp>
        <p:nvSpPr>
          <p:cNvPr id="40" name="Shape 34"/>
          <p:cNvSpPr/>
          <p:nvPr/>
        </p:nvSpPr>
        <p:spPr>
          <a:xfrm>
            <a:off x="548640" y="5943600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E6EBF3"/>
          </a:solidFill>
          <a:ln w="15875">
            <a:solidFill>
              <a:srgbClr val="C77A00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777240" y="59436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Constant-time comparison (</a:t>
            </a:r>
            <a:pPr indent="0" marL="0">
              <a:buNone/>
            </a:pPr>
            <a:r>
              <a:rPr lang="en-US" sz="1300" dirty="0">
                <a:solidFill>
                  <a:srgbClr val="C77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hmac.compare_digest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prevents timing side-channels that could leak whether the MAC was close to correct.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30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· STRANGER ATTACK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stranger tries to connect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87752" cy="1783080"/>
          </a:xfrm>
          <a:prstGeom prst="roundRect">
            <a:avLst>
              <a:gd name="adj" fmla="val 5128"/>
            </a:avLst>
          </a:prstGeom>
          <a:solidFill>
            <a:srgbClr val="F4F6FA"/>
          </a:solidFill>
          <a:ln w="12700">
            <a:solidFill>
              <a:srgbClr val="D3DA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27632"/>
            <a:ext cx="365760" cy="365760"/>
          </a:xfrm>
          <a:prstGeom prst="ellipse">
            <a:avLst/>
          </a:prstGeom>
          <a:solidFill>
            <a:srgbClr val="D93045"/>
          </a:solidFill>
          <a:ln w="12700">
            <a:solidFill>
              <a:srgbClr val="D930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7752" y="1645920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103120"/>
            <a:ext cx="2221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Stranger generates an identity and ephemeral keys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163824" y="2354580"/>
            <a:ext cx="192024" cy="0"/>
          </a:xfrm>
          <a:prstGeom prst="line">
            <a:avLst/>
          </a:prstGeom>
          <a:noFill/>
          <a:ln w="22225">
            <a:solidFill>
              <a:srgbClr val="D93045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383280" y="1463040"/>
            <a:ext cx="2587752" cy="1783080"/>
          </a:xfrm>
          <a:prstGeom prst="roundRect">
            <a:avLst>
              <a:gd name="adj" fmla="val 5128"/>
            </a:avLst>
          </a:prstGeom>
          <a:solidFill>
            <a:srgbClr val="F4F6FA"/>
          </a:solidFill>
          <a:ln w="12700">
            <a:solidFill>
              <a:srgbClr val="D3DA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66160" y="1627632"/>
            <a:ext cx="365760" cy="365760"/>
          </a:xfrm>
          <a:prstGeom prst="ellipse">
            <a:avLst/>
          </a:prstGeom>
          <a:solidFill>
            <a:srgbClr val="D93045"/>
          </a:solidFill>
          <a:ln w="12700">
            <a:solidFill>
              <a:srgbClr val="D9304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6616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92" y="164592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66160" y="2103120"/>
            <a:ext cx="2221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 pairing secret with Device B → uses a random 32-byte key to compute a fake MAC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998464" y="2354580"/>
            <a:ext cx="192024" cy="0"/>
          </a:xfrm>
          <a:prstGeom prst="line">
            <a:avLst/>
          </a:prstGeom>
          <a:noFill/>
          <a:ln w="22225">
            <a:solidFill>
              <a:srgbClr val="D93045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217920" y="1463040"/>
            <a:ext cx="2587752" cy="1783080"/>
          </a:xfrm>
          <a:prstGeom prst="roundRect">
            <a:avLst>
              <a:gd name="adj" fmla="val 5128"/>
            </a:avLst>
          </a:prstGeom>
          <a:solidFill>
            <a:srgbClr val="F4F6FA"/>
          </a:solidFill>
          <a:ln w="12700">
            <a:solidFill>
              <a:srgbClr val="D3DAE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0" y="1627632"/>
            <a:ext cx="365760" cy="365760"/>
          </a:xfrm>
          <a:prstGeom prst="ellipse">
            <a:avLst/>
          </a:prstGeom>
          <a:solidFill>
            <a:srgbClr val="D93045"/>
          </a:solidFill>
          <a:ln w="12700">
            <a:solidFill>
              <a:srgbClr val="D9304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0080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1645920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00800" y="2103120"/>
            <a:ext cx="2221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</a:t>
            </a:r>
            <a:pPr indent="0" marL="0">
              <a:buNone/>
            </a:pPr>
            <a:r>
              <a:rPr lang="en-US" sz="1250" dirty="0">
                <a:solidFill>
                  <a:srgbClr val="C77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(device_id="stranger-007", eph_keys, fake_mac)</a:t>
            </a:r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Device B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8833104" y="2354580"/>
            <a:ext cx="192024" cy="0"/>
          </a:xfrm>
          <a:prstGeom prst="line">
            <a:avLst/>
          </a:prstGeom>
          <a:noFill/>
          <a:ln w="22225">
            <a:solidFill>
              <a:srgbClr val="D93045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9052560" y="1463040"/>
            <a:ext cx="2587752" cy="1783080"/>
          </a:xfrm>
          <a:prstGeom prst="roundRect">
            <a:avLst>
              <a:gd name="adj" fmla="val 5128"/>
            </a:avLst>
          </a:prstGeom>
          <a:solidFill>
            <a:srgbClr val="FDECEE"/>
          </a:solidFill>
          <a:ln w="19050">
            <a:solidFill>
              <a:srgbClr val="D9304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235440" y="1627632"/>
            <a:ext cx="365760" cy="365760"/>
          </a:xfrm>
          <a:prstGeom prst="ellipse">
            <a:avLst/>
          </a:prstGeom>
          <a:solidFill>
            <a:srgbClr val="D93045"/>
          </a:solidFill>
          <a:ln w="12700">
            <a:solidFill>
              <a:srgbClr val="D93045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23544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1672" y="1645920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235440" y="2103120"/>
            <a:ext cx="2221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B: trust store lookup for </a:t>
            </a:r>
            <a:pPr indent="0" marL="0">
              <a:buNone/>
            </a:pPr>
            <a:r>
              <a:rPr lang="en-US" sz="1250" dirty="0">
                <a:solidFill>
                  <a:srgbClr val="C77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stranger-007</a:t>
            </a:r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NOT FOUND → silent drop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548640" y="3520440"/>
            <a:ext cx="6858000" cy="2788920"/>
          </a:xfrm>
          <a:prstGeom prst="roundRect">
            <a:avLst>
              <a:gd name="adj" fmla="val 3279"/>
            </a:avLst>
          </a:prstGeom>
          <a:solidFill>
            <a:srgbClr val="F4F6FA"/>
          </a:solidFill>
          <a:ln w="12700">
            <a:solidFill>
              <a:srgbClr val="D3DAE6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822960" y="3685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 IF DEVICE B CHECKED THE MAC ANYWAY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822960" y="4069080"/>
            <a:ext cx="6492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 = HMAC-SHA256(</a:t>
            </a:r>
            <a:pPr indent="0" marL="0">
              <a:buNone/>
            </a:pPr>
            <a:r>
              <a:rPr lang="en-US" sz="1350" dirty="0">
                <a:solidFill>
                  <a:srgbClr val="0E9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HKDF(b_priv · A_pub)</a:t>
            </a:r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stranger_data)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Received = HMAC-SHA256(</a:t>
            </a:r>
            <a:pPr indent="0" marL="0">
              <a:buNone/>
            </a:pPr>
            <a:r>
              <a:rPr lang="en-US" sz="1350" dirty="0">
                <a:solidFill>
                  <a:srgbClr val="D930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random_key</a:t>
            </a:r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stranger_data)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77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 ≠ Received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P(collision) ≈ 1/2²⁵⁶</a:t>
            </a:r>
            <a:endParaRPr lang="en-US" sz="1350" dirty="0"/>
          </a:p>
        </p:txBody>
      </p:sp>
      <p:sp>
        <p:nvSpPr>
          <p:cNvPr id="30" name="Shape 24"/>
          <p:cNvSpPr/>
          <p:nvPr/>
        </p:nvSpPr>
        <p:spPr>
          <a:xfrm>
            <a:off x="7680960" y="3520440"/>
            <a:ext cx="3959352" cy="2788920"/>
          </a:xfrm>
          <a:prstGeom prst="roundRect">
            <a:avLst>
              <a:gd name="adj" fmla="val 3279"/>
            </a:avLst>
          </a:prstGeom>
          <a:solidFill>
            <a:srgbClr val="E6EBF3"/>
          </a:solidFill>
          <a:ln w="19050">
            <a:solidFill>
              <a:srgbClr val="0E9F74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3749040"/>
            <a:ext cx="411480" cy="41148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503920" y="3813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9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PROPERTY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7955280" y="434340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original QR pairing, an attacker cannot forge a valid MAC for any device in the trust store — the long-term secret was never transmitted.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9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· SECURITY PROPERTIES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threat, a matching mechanism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06240"/>
                <a:gridCol w="359359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9F7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Property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9F7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Mechanism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9F7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Threat Defeated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Confidentiality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77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ASCON-128a encryption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 eavesdropper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77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ASCON authentication tag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Ciphertext tampering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MITM resistance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77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QR out-of-band + fingerprint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MITM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Post-quantum security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77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ML-KEM-768 (MLWE)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Quantum computer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secrecy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77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Ephemeral keys per session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compromise after session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authentication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77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HMAC-SHA256 long-term MAC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Impersonation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Stranger rejection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77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Trust store + silent drop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Unsolicited connections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 attack resistance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77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hmac.compare_digest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 oracle side-channel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7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· ARCHITECTURE &amp; LIVE 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primitives to a live visualizer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754880" cy="960120"/>
          </a:xfrm>
          <a:prstGeom prst="roundRect">
            <a:avLst>
              <a:gd name="adj" fmla="val 9524"/>
            </a:avLst>
          </a:prstGeom>
          <a:solidFill>
            <a:srgbClr val="F4F6FA"/>
          </a:solidFill>
          <a:ln w="15875">
            <a:solidFill>
              <a:srgbClr val="C77A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727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77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website/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928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WebSocket backend, live visualizer frontend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37360" y="2468880"/>
            <a:ext cx="0" cy="320040"/>
          </a:xfrm>
          <a:prstGeom prst="line">
            <a:avLst/>
          </a:prstGeom>
          <a:noFill/>
          <a:ln w="19050">
            <a:solidFill>
              <a:srgbClr val="8A94A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114800" y="2468880"/>
            <a:ext cx="0" cy="320040"/>
          </a:xfrm>
          <a:prstGeom prst="line">
            <a:avLst/>
          </a:prstGeom>
          <a:noFill/>
          <a:ln w="19050">
            <a:solidFill>
              <a:srgbClr val="8A94A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" y="2834640"/>
            <a:ext cx="2286000" cy="1325880"/>
          </a:xfrm>
          <a:prstGeom prst="roundRect">
            <a:avLst>
              <a:gd name="adj" fmla="val 6897"/>
            </a:avLst>
          </a:prstGeom>
          <a:solidFill>
            <a:srgbClr val="F4F6FA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944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pairing/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26440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generation, QR encoding, fingerprint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17520" y="2834640"/>
            <a:ext cx="2286000" cy="1325880"/>
          </a:xfrm>
          <a:prstGeom prst="roundRect">
            <a:avLst>
              <a:gd name="adj" fmla="val 6897"/>
            </a:avLst>
          </a:prstGeom>
          <a:solidFill>
            <a:srgbClr val="F4F6FA"/>
          </a:solidFill>
          <a:ln w="15875">
            <a:solidFill>
              <a:srgbClr val="0E9F7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0" y="2944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9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proximity/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326440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 protocol, MAC authentication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91640" y="4206240"/>
            <a:ext cx="0" cy="320040"/>
          </a:xfrm>
          <a:prstGeom prst="line">
            <a:avLst/>
          </a:prstGeom>
          <a:noFill/>
          <a:ln w="19050">
            <a:solidFill>
              <a:srgbClr val="8A94A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160520" y="4206240"/>
            <a:ext cx="0" cy="320040"/>
          </a:xfrm>
          <a:prstGeom prst="line">
            <a:avLst/>
          </a:prstGeom>
          <a:noFill/>
          <a:ln w="19050">
            <a:solidFill>
              <a:srgbClr val="8A94A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" y="4572000"/>
            <a:ext cx="4754880" cy="1005840"/>
          </a:xfrm>
          <a:prstGeom prst="roundRect">
            <a:avLst>
              <a:gd name="adj" fmla="val 9091"/>
            </a:avLst>
          </a:prstGeom>
          <a:solidFill>
            <a:srgbClr val="F4F6FA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6817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00176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X25519 · ML-KEM · HKDF · ASCON primitives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0" y="1463040"/>
            <a:ext cx="5971032" cy="4114800"/>
          </a:xfrm>
          <a:prstGeom prst="roundRect">
            <a:avLst>
              <a:gd name="adj" fmla="val 2222"/>
            </a:avLst>
          </a:prstGeom>
          <a:solidFill>
            <a:srgbClr val="F4F6FA"/>
          </a:solidFill>
          <a:ln w="12700">
            <a:solidFill>
              <a:srgbClr val="D3DA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52160" y="1591056"/>
            <a:ext cx="118872" cy="118872"/>
          </a:xfrm>
          <a:prstGeom prst="ellipse">
            <a:avLst/>
          </a:prstGeom>
          <a:solidFill>
            <a:srgbClr val="D93045"/>
          </a:solidFill>
          <a:ln w="12700">
            <a:solidFill>
              <a:srgbClr val="D930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591056"/>
            <a:ext cx="118872" cy="118872"/>
          </a:xfrm>
          <a:prstGeom prst="ellipse">
            <a:avLst/>
          </a:prstGeom>
          <a:solidFill>
            <a:srgbClr val="C77A00"/>
          </a:solidFill>
          <a:ln w="12700">
            <a:solidFill>
              <a:srgbClr val="C77A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54496" y="1591056"/>
            <a:ext cx="118872" cy="118872"/>
          </a:xfrm>
          <a:prstGeom prst="ellipse">
            <a:avLst/>
          </a:prstGeom>
          <a:solidFill>
            <a:srgbClr val="0E9F74"/>
          </a:solidFill>
          <a:ln w="12700">
            <a:solidFill>
              <a:srgbClr val="0E9F7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0" y="152704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localhost:8000 · pairing visualizer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97880" y="19202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6EBF3"/>
          </a:solidFill>
          <a:ln w="15875">
            <a:solidFill>
              <a:srgbClr val="0E9F7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97880" y="19202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9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059168" y="19202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6EBF3"/>
          </a:solidFill>
          <a:ln w="15875">
            <a:solidFill>
              <a:srgbClr val="D9304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59168" y="19202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30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220456" y="19202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6EBF3"/>
          </a:solidFill>
          <a:ln w="15875">
            <a:solidFill>
              <a:srgbClr val="D9304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0456" y="19202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30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Stranger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381744" y="19202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6EBF3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381744" y="19202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Reconnect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97880" y="2377440"/>
            <a:ext cx="2148840" cy="1828800"/>
          </a:xfrm>
          <a:prstGeom prst="roundRect">
            <a:avLst>
              <a:gd name="adj" fmla="val 3000"/>
            </a:avLst>
          </a:prstGeom>
          <a:solidFill>
            <a:srgbClr val="E6EBF3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035040" y="2468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A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035040" y="278892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x25519_pub  9f3c…7a21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mlkem_pub   b41e…c90d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shared_S_x  e07b…1f44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session_key 5ac2…9d10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262872" y="2377440"/>
            <a:ext cx="2148840" cy="1828800"/>
          </a:xfrm>
          <a:prstGeom prst="roundRect">
            <a:avLst>
              <a:gd name="adj" fmla="val 3000"/>
            </a:avLst>
          </a:prstGeom>
          <a:solidFill>
            <a:srgbClr val="E6EBF3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400032" y="2468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B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9400032" y="278892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x25519_pub  9f3c…7a21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mlkem_pub   b41e…c90d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shared_S_x  e07b…1f44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session_key 5ac2…9d10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654796" y="2377440"/>
            <a:ext cx="0" cy="1828800"/>
          </a:xfrm>
          <a:prstGeom prst="line">
            <a:avLst/>
          </a:prstGeom>
          <a:noFill/>
          <a:ln w="19050">
            <a:solidFill>
              <a:srgbClr val="C77A00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8334756" y="2880360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C77A00"/>
          </a:solidFill>
          <a:ln w="12700">
            <a:solidFill>
              <a:srgbClr val="C77A0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334756" y="2880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ct_kem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334756" y="3474720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C77A00"/>
          </a:solidFill>
          <a:ln w="12700">
            <a:solidFill>
              <a:srgbClr val="C77A0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334756" y="3474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897880" y="443484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E6EBF3"/>
          </a:solidFill>
          <a:ln w="12700">
            <a:solidFill>
              <a:srgbClr val="0E9F7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897880" y="44348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9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keygen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031736" y="443484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E6EBF3"/>
          </a:solidFill>
          <a:ln w="12700">
            <a:solidFill>
              <a:srgbClr val="0E9F7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031736" y="44348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9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QR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165592" y="443484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E6EBF3"/>
          </a:solidFill>
          <a:ln w="12700">
            <a:solidFill>
              <a:srgbClr val="0E9F7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165592" y="44348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9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encaps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299448" y="443484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E6EBF3"/>
          </a:solidFill>
          <a:ln w="12700">
            <a:solidFill>
              <a:srgbClr val="D3DAE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299448" y="44348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HKDF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0433304" y="443484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E6EBF3"/>
          </a:solidFill>
          <a:ln w="12700">
            <a:solidFill>
              <a:srgbClr val="D3DAE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0433304" y="44348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verify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0177272" y="1517904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C77A00"/>
          </a:solidFill>
          <a:ln w="12700">
            <a:solidFill>
              <a:srgbClr val="C77A0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0177272" y="151790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buttons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492240" y="406908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C77A00"/>
          </a:solidFill>
          <a:ln w="12700">
            <a:solidFill>
              <a:srgbClr val="C77A0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492240" y="4069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panels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996428" y="384048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C77A00"/>
          </a:solidFill>
          <a:ln w="12700">
            <a:solidFill>
              <a:srgbClr val="C77A0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996428" y="38404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divider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0177272" y="507492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C77A00"/>
          </a:solidFill>
          <a:ln w="12700">
            <a:solidFill>
              <a:srgbClr val="C77A0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0177272" y="50749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cards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548640" y="585216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E9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cryptographic operation shown in the demo is real — the keys, ciphertexts, and shared secrets are computed live, not simulated.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200">
                <a:solidFill>
                  <a:srgbClr val="D93045"/>
                </a:solidFill>
                <a:latin typeface="Courier New"/>
              </a:rPr>
              <a:t>02 ·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Arial"/>
              </a:rPr>
              <a:t>Pairing devices securely — today and after quantum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11091672" cy="1417320"/>
          </a:xfrm>
          <a:prstGeom prst="roundRect">
            <a:avLst>
              <a:gd name="adj" fmla="val 6000"/>
            </a:avLst>
          </a:prstGeom>
          <a:solidFill>
            <a:srgbClr val="FDECEE"/>
          </a:solidFill>
          <a:ln w="15875">
            <a:solidFill>
              <a:srgbClr val="D9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82296" cy="1417320"/>
          </a:xfrm>
          <a:prstGeom prst="rect">
            <a:avLst/>
          </a:prstGeom>
          <a:solidFill>
            <a:srgbClr val="D93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184708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D93045"/>
                </a:solidFill>
                <a:latin typeface="Courier New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57984"/>
            <a:ext cx="105613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11827"/>
                </a:solidFill>
                <a:latin typeface="Arial"/>
              </a:rPr>
              <a:t>Design a lightweight protocol that lets two devices with no prior trust establish a shared session key over an untrusted network — resisting passive eavesdroppers, active man-in-the-middle attackers and future quantum adversaries — and lets paired devices reconnect by proximity without ever reusing a session key.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83280"/>
            <a:ext cx="3538728" cy="23317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3383280"/>
            <a:ext cx="3538728" cy="64008"/>
          </a:xfrm>
          <a:prstGeom prst="rect">
            <a:avLst/>
          </a:prstGeom>
          <a:solidFill>
            <a:srgbClr val="C7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59" y="36393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C77A00"/>
                </a:solidFill>
                <a:latin typeface="Arial"/>
              </a:rPr>
              <a:t>Harvest now, decrypt later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11480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B6478"/>
                </a:solidFill>
                <a:latin typeface="Arial"/>
              </a:rPr>
              <a:t>Classical-only pairing (ECDH) protects traffic today, but recorded sessions become readable once a large quantum computer exists.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3383280"/>
            <a:ext cx="3538728" cy="23317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25112" y="3383280"/>
            <a:ext cx="3538728" cy="64008"/>
          </a:xfrm>
          <a:prstGeom prst="rect">
            <a:avLst/>
          </a:prstGeom>
          <a:solidFill>
            <a:srgbClr val="D93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99431" y="36393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93045"/>
                </a:solidFill>
                <a:latin typeface="Arial"/>
              </a:rPr>
              <a:t>No trustworthy key exchange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411480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B6478"/>
                </a:solidFill>
                <a:latin typeface="Arial"/>
              </a:rPr>
              <a:t>Keys exchanged over the network itself can be silently swapped by a man-in-the-middle unless there is an independent trust anchor.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3383280"/>
            <a:ext cx="3538728" cy="23317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101583" y="3383280"/>
            <a:ext cx="3538728" cy="640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75904" y="36393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Arial"/>
              </a:rPr>
              <a:t>Long-term keys on reconnect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411480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B6478"/>
                </a:solidFill>
                <a:latin typeface="Arial"/>
              </a:rPr>
              <a:t>Reusing the same key every time devices reconnect means one leaked key exposes every past session.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1">
                <a:solidFill>
                  <a:srgbClr val="0E9F74"/>
                </a:solidFill>
                <a:latin typeface="Arial"/>
              </a:rPr>
              <a:t>Why it matters: phones, wearables and IoT devices pair constantly — a single weak link exposes everything that follows.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200">
                <a:solidFill>
                  <a:srgbClr val="0E9F74"/>
                </a:solidFill>
                <a:latin typeface="Courier New"/>
              </a:rPr>
              <a:t>03 ·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Arial"/>
              </a:rPr>
              <a:t>What this project sets out to achieve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3538728" cy="20116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22959" y="196596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Arial"/>
              </a:rPr>
              <a:t>Hybrid key agreement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6032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B6478"/>
                </a:solidFill>
                <a:latin typeface="Arial"/>
              </a:rPr>
              <a:t>Combine X25519 and ML-KEM-768 so the session key stays secure unless both are broken.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691640"/>
            <a:ext cx="3538728" cy="20116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599431" y="1965960"/>
            <a:ext cx="384048" cy="384048"/>
          </a:xfrm>
          <a:prstGeom prst="ellipse">
            <a:avLst/>
          </a:prstGeom>
          <a:solidFill>
            <a:srgbClr val="0E9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99431" y="19659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8072" y="1965960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Arial"/>
              </a:rPr>
              <a:t>Out-of-band 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56032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B6478"/>
                </a:solidFill>
                <a:latin typeface="Arial"/>
              </a:rPr>
              <a:t>Bootstrap public keys through a QR scan so an attacker on the network cannot substitute keys.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691640"/>
            <a:ext cx="3538728" cy="20116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75904" y="1965960"/>
            <a:ext cx="384048" cy="384048"/>
          </a:xfrm>
          <a:prstGeom prst="ellipse">
            <a:avLst/>
          </a:prstGeom>
          <a:solidFill>
            <a:srgbClr val="C7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375904" y="19659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544" y="1965960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Arial"/>
              </a:rPr>
              <a:t>Lightweight authenticated encryption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56032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B6478"/>
                </a:solidFill>
                <a:latin typeface="Arial"/>
              </a:rPr>
              <a:t>Use ASCON-128a to keep data private and detect any tampering, even on constrained devices.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31920"/>
            <a:ext cx="3538728" cy="20116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822959" y="420624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59" y="42062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206240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Arial"/>
              </a:rPr>
              <a:t>Forward-secret reconnect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80060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B6478"/>
                </a:solidFill>
                <a:latin typeface="Arial"/>
              </a:rPr>
              <a:t>Generate fresh ephemeral keys on every proximity encounter, authenticated by a MAC from the long-term secret.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5112" y="3931920"/>
            <a:ext cx="3538728" cy="20116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4599431" y="4206240"/>
            <a:ext cx="384048" cy="384048"/>
          </a:xfrm>
          <a:prstGeom prst="ellipse">
            <a:avLst/>
          </a:prstGeom>
          <a:solidFill>
            <a:srgbClr val="D93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599431" y="42062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8072" y="4206240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Arial"/>
              </a:rPr>
              <a:t>Reject strangers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1" y="480060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B6478"/>
                </a:solidFill>
                <a:latin typeface="Arial"/>
              </a:rPr>
              <a:t>Maintain a trust store of paired devices and silently drop requests from unknown devices.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1583" y="3931920"/>
            <a:ext cx="3538728" cy="20116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8375904" y="4206240"/>
            <a:ext cx="384048" cy="384048"/>
          </a:xfrm>
          <a:prstGeom prst="ellipse">
            <a:avLst/>
          </a:prstGeom>
          <a:solidFill>
            <a:srgbClr val="0E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375904" y="42062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4544" y="4206240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Arial"/>
              </a:rPr>
              <a:t>Make it observable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480060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B6478"/>
                </a:solidFill>
                <a:latin typeface="Arial"/>
              </a:rPr>
              <a:t>Build a live visualizer that shows every real cryptographic operation as it happens.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200">
                <a:solidFill>
                  <a:srgbClr val="2563EB"/>
                </a:solidFill>
                <a:latin typeface="Courier New"/>
              </a:rPr>
              <a:t>04 · 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Arial"/>
              </a:rPr>
              <a:t>Summary of existing work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1672" cy="44622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566160"/>
                <a:gridCol w="4023360"/>
                <a:gridCol w="350215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563EB"/>
                          </a:solidFill>
                          <a:latin typeface="Arial"/>
                        </a:rPr>
                        <a:t>Work</a:t>
                      </a:r>
                    </a:p>
                  </a:txBody>
                  <a:tcPr marL="128016" marR="128016" marT="45720" marB="45720" anchor="ctr">
                    <a:lnL w="9525">
                      <a:solidFill>
                        <a:srgbClr val="D3DAE6"/>
                      </a:solidFill>
                    </a:lnL>
                    <a:lnR w="9525">
                      <a:solidFill>
                        <a:srgbClr val="D3DAE6"/>
                      </a:solidFill>
                    </a:lnR>
                    <a:lnT w="9525">
                      <a:solidFill>
                        <a:srgbClr val="D3DAE6"/>
                      </a:solidFill>
                    </a:lnT>
                    <a:lnB w="9525">
                      <a:solidFill>
                        <a:srgbClr val="D3DAE6"/>
                      </a:solidFill>
                    </a:lnB>
                    <a:solidFill>
                      <a:srgbClr val="E6EB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563EB"/>
                          </a:solidFill>
                          <a:latin typeface="Arial"/>
                        </a:rPr>
                        <a:t>Approach</a:t>
                      </a:r>
                    </a:p>
                  </a:txBody>
                  <a:tcPr marL="128016" marR="128016" marT="45720" marB="45720" anchor="ctr">
                    <a:lnL w="9525">
                      <a:solidFill>
                        <a:srgbClr val="D3DAE6"/>
                      </a:solidFill>
                    </a:lnL>
                    <a:lnR w="9525">
                      <a:solidFill>
                        <a:srgbClr val="D3DAE6"/>
                      </a:solidFill>
                    </a:lnR>
                    <a:lnT w="9525">
                      <a:solidFill>
                        <a:srgbClr val="D3DAE6"/>
                      </a:solidFill>
                    </a:lnT>
                    <a:lnB w="9525">
                      <a:solidFill>
                        <a:srgbClr val="D3DAE6"/>
                      </a:solidFill>
                    </a:lnB>
                    <a:solidFill>
                      <a:srgbClr val="E6EB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563EB"/>
                          </a:solidFill>
                          <a:latin typeface="Arial"/>
                        </a:rPr>
                        <a:t>Limitation</a:t>
                      </a:r>
                    </a:p>
                  </a:txBody>
                  <a:tcPr marL="128016" marR="128016" marT="45720" marB="45720" anchor="ctr">
                    <a:lnL w="9525">
                      <a:solidFill>
                        <a:srgbClr val="D3DAE6"/>
                      </a:solidFill>
                    </a:lnL>
                    <a:lnR w="9525">
                      <a:solidFill>
                        <a:srgbClr val="D3DAE6"/>
                      </a:solidFill>
                    </a:lnR>
                    <a:lnT w="9525">
                      <a:solidFill>
                        <a:srgbClr val="D3DAE6"/>
                      </a:solidFill>
                    </a:lnT>
                    <a:lnB w="9525">
                      <a:solidFill>
                        <a:srgbClr val="D3DAE6"/>
                      </a:solidFill>
                    </a:lnB>
                    <a:solidFill>
                      <a:srgbClr val="E6EBF3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  <a:latin typeface="Arial"/>
                        </a:rPr>
                        <a:t>Bluetooth LE Secure Connections</a:t>
                      </a:r>
                    </a:p>
                    <a:p>
                      <a:r>
                        <a:rPr sz="1000" b="0">
                          <a:solidFill>
                            <a:srgbClr val="5B6478"/>
                          </a:solidFill>
                          <a:latin typeface="Arial"/>
                        </a:rPr>
                        <a:t>(Bluetooth SIG, v4.2)</a:t>
                      </a:r>
                    </a:p>
                  </a:txBody>
                  <a:tcPr marL="128016" marR="128016" marT="45720" marB="45720" anchor="ctr">
                    <a:lnL w="9525">
                      <a:solidFill>
                        <a:srgbClr val="D3DAE6"/>
                      </a:solidFill>
                    </a:lnL>
                    <a:lnR w="9525">
                      <a:solidFill>
                        <a:srgbClr val="D3DAE6"/>
                      </a:solidFill>
                    </a:lnR>
                    <a:lnT w="9525">
                      <a:solidFill>
                        <a:srgbClr val="D3DAE6"/>
                      </a:solidFill>
                    </a:lnT>
                    <a:lnB w="9525">
                      <a:solidFill>
                        <a:srgbClr val="D3DA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74151"/>
                          </a:solidFill>
                          <a:latin typeface="Arial"/>
                        </a:rPr>
                        <a:t>ECDH on P-256 with numeric comparison or passkey entry</a:t>
                      </a:r>
                    </a:p>
                  </a:txBody>
                  <a:tcPr marL="128016" marR="128016" marT="45720" marB="45720" anchor="ctr">
                    <a:lnL w="9525">
                      <a:solidFill>
                        <a:srgbClr val="D3DAE6"/>
                      </a:solidFill>
                    </a:lnL>
                    <a:lnR w="9525">
                      <a:solidFill>
                        <a:srgbClr val="D3DAE6"/>
                      </a:solidFill>
                    </a:lnR>
                    <a:lnT w="9525">
                      <a:solidFill>
                        <a:srgbClr val="D3DAE6"/>
                      </a:solidFill>
                    </a:lnT>
                    <a:lnB w="9525">
                      <a:solidFill>
                        <a:srgbClr val="D3DA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D93045"/>
                          </a:solidFill>
                          <a:latin typeface="Arial"/>
                        </a:rPr>
                        <a:t>Classical only; "Just Works" mode has no MITM protection</a:t>
                      </a:r>
                    </a:p>
                  </a:txBody>
                  <a:tcPr marL="128016" marR="128016" marT="45720" marB="45720" anchor="ctr">
                    <a:lnL w="9525">
                      <a:solidFill>
                        <a:srgbClr val="D3DAE6"/>
                      </a:solidFill>
                    </a:lnL>
                    <a:lnR w="9525">
                      <a:solidFill>
                        <a:srgbClr val="D3DAE6"/>
                      </a:solidFill>
                    </a:lnR>
                    <a:lnT w="9525">
                      <a:solidFill>
                        <a:srgbClr val="D3DAE6"/>
                      </a:solidFill>
                    </a:lnT>
                    <a:lnB w="9525">
                      <a:solidFill>
                        <a:srgbClr val="D3DA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  <a:latin typeface="Arial"/>
                        </a:rPr>
                        <a:t>Seeing-is-Believing</a:t>
                      </a:r>
                    </a:p>
                    <a:p>
                      <a:r>
                        <a:rPr sz="1000" b="0">
                          <a:solidFill>
                            <a:srgbClr val="5B6478"/>
                          </a:solidFill>
                          <a:latin typeface="Arial"/>
                        </a:rPr>
                        <a:t>(McCune, Perrig &amp; Reiter, IEEE S&amp;P 2005)</a:t>
                      </a:r>
                    </a:p>
                  </a:txBody>
                  <a:tcPr marL="128016" marR="128016" marT="45720" marB="45720" anchor="ctr">
                    <a:lnL w="9525">
                      <a:solidFill>
                        <a:srgbClr val="D3DAE6"/>
                      </a:solidFill>
                    </a:lnL>
                    <a:lnR w="9525">
                      <a:solidFill>
                        <a:srgbClr val="D3DAE6"/>
                      </a:solidFill>
                    </a:lnR>
                    <a:lnT w="9525">
                      <a:solidFill>
                        <a:srgbClr val="D3DAE6"/>
                      </a:solidFill>
                    </a:lnT>
                    <a:lnB w="9525">
                      <a:solidFill>
                        <a:srgbClr val="D3DAE6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74151"/>
                          </a:solidFill>
                          <a:latin typeface="Arial"/>
                        </a:rPr>
                        <a:t>Camera reads a 2D barcode as a visual out-of-band channel to authenticate keys</a:t>
                      </a:r>
                    </a:p>
                  </a:txBody>
                  <a:tcPr marL="128016" marR="128016" marT="45720" marB="45720" anchor="ctr">
                    <a:lnL w="9525">
                      <a:solidFill>
                        <a:srgbClr val="D3DAE6"/>
                      </a:solidFill>
                    </a:lnL>
                    <a:lnR w="9525">
                      <a:solidFill>
                        <a:srgbClr val="D3DAE6"/>
                      </a:solidFill>
                    </a:lnR>
                    <a:lnT w="9525">
                      <a:solidFill>
                        <a:srgbClr val="D3DAE6"/>
                      </a:solidFill>
                    </a:lnT>
                    <a:lnB w="9525">
                      <a:solidFill>
                        <a:srgbClr val="D3DAE6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D93045"/>
                          </a:solidFill>
                          <a:latin typeface="Arial"/>
                        </a:rPr>
                        <a:t>Pre-quantum; no secure reconnect or forward secrecy</a:t>
                      </a:r>
                    </a:p>
                  </a:txBody>
                  <a:tcPr marL="128016" marR="128016" marT="45720" marB="45720" anchor="ctr">
                    <a:lnL w="9525">
                      <a:solidFill>
                        <a:srgbClr val="D3DAE6"/>
                      </a:solidFill>
                    </a:lnL>
                    <a:lnR w="9525">
                      <a:solidFill>
                        <a:srgbClr val="D3DAE6"/>
                      </a:solidFill>
                    </a:lnR>
                    <a:lnT w="9525">
                      <a:solidFill>
                        <a:srgbClr val="D3DAE6"/>
                      </a:solidFill>
                    </a:lnT>
                    <a:lnB w="9525">
                      <a:solidFill>
                        <a:srgbClr val="D3DAE6"/>
                      </a:solidFill>
                    </a:lnB>
                    <a:solidFill>
                      <a:srgbClr val="F4F6FA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  <a:latin typeface="Arial"/>
                        </a:rPr>
                        <a:t>Wi-Fi Easy Connect / DPP</a:t>
                      </a:r>
                    </a:p>
                    <a:p>
                      <a:r>
                        <a:rPr sz="1000" b="0">
                          <a:solidFill>
                            <a:srgbClr val="5B6478"/>
                          </a:solidFill>
                          <a:latin typeface="Arial"/>
                        </a:rPr>
                        <a:t>(Wi-Fi Alliance, 2018)</a:t>
                      </a:r>
                    </a:p>
                  </a:txBody>
                  <a:tcPr marL="128016" marR="128016" marT="45720" marB="45720" anchor="ctr">
                    <a:lnL w="9525">
                      <a:solidFill>
                        <a:srgbClr val="D3DAE6"/>
                      </a:solidFill>
                    </a:lnL>
                    <a:lnR w="9525">
                      <a:solidFill>
                        <a:srgbClr val="D3DAE6"/>
                      </a:solidFill>
                    </a:lnR>
                    <a:lnT w="9525">
                      <a:solidFill>
                        <a:srgbClr val="D3DAE6"/>
                      </a:solidFill>
                    </a:lnT>
                    <a:lnB w="9525">
                      <a:solidFill>
                        <a:srgbClr val="D3DA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74151"/>
                          </a:solidFill>
                          <a:latin typeface="Arial"/>
                        </a:rPr>
                        <a:t>QR-code bootstrapping of elliptic-curve public keys</a:t>
                      </a:r>
                    </a:p>
                  </a:txBody>
                  <a:tcPr marL="128016" marR="128016" marT="45720" marB="45720" anchor="ctr">
                    <a:lnL w="9525">
                      <a:solidFill>
                        <a:srgbClr val="D3DAE6"/>
                      </a:solidFill>
                    </a:lnL>
                    <a:lnR w="9525">
                      <a:solidFill>
                        <a:srgbClr val="D3DAE6"/>
                      </a:solidFill>
                    </a:lnR>
                    <a:lnT w="9525">
                      <a:solidFill>
                        <a:srgbClr val="D3DAE6"/>
                      </a:solidFill>
                    </a:lnT>
                    <a:lnB w="9525">
                      <a:solidFill>
                        <a:srgbClr val="D3DA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D93045"/>
                          </a:solidFill>
                          <a:latin typeface="Arial"/>
                        </a:rPr>
                        <a:t>Classical ECC only; limited to Wi-Fi network onboarding</a:t>
                      </a:r>
                    </a:p>
                  </a:txBody>
                  <a:tcPr marL="128016" marR="128016" marT="45720" marB="45720" anchor="ctr">
                    <a:lnL w="9525">
                      <a:solidFill>
                        <a:srgbClr val="D3DAE6"/>
                      </a:solidFill>
                    </a:lnL>
                    <a:lnR w="9525">
                      <a:solidFill>
                        <a:srgbClr val="D3DAE6"/>
                      </a:solidFill>
                    </a:lnR>
                    <a:lnT w="9525">
                      <a:solidFill>
                        <a:srgbClr val="D3DAE6"/>
                      </a:solidFill>
                    </a:lnT>
                    <a:lnB w="9525">
                      <a:solidFill>
                        <a:srgbClr val="D3DA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  <a:latin typeface="Arial"/>
                        </a:rPr>
                        <a:t>Signal PQXDH</a:t>
                      </a:r>
                    </a:p>
                    <a:p>
                      <a:r>
                        <a:rPr sz="1000" b="0">
                          <a:solidFill>
                            <a:srgbClr val="5B6478"/>
                          </a:solidFill>
                          <a:latin typeface="Arial"/>
                        </a:rPr>
                        <a:t>(Signal, 2023)</a:t>
                      </a:r>
                    </a:p>
                  </a:txBody>
                  <a:tcPr marL="128016" marR="128016" marT="45720" marB="45720" anchor="ctr">
                    <a:lnL w="9525">
                      <a:solidFill>
                        <a:srgbClr val="D3DAE6"/>
                      </a:solidFill>
                    </a:lnL>
                    <a:lnR w="9525">
                      <a:solidFill>
                        <a:srgbClr val="D3DAE6"/>
                      </a:solidFill>
                    </a:lnR>
                    <a:lnT w="9525">
                      <a:solidFill>
                        <a:srgbClr val="D3DAE6"/>
                      </a:solidFill>
                    </a:lnT>
                    <a:lnB w="9525">
                      <a:solidFill>
                        <a:srgbClr val="D3DAE6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74151"/>
                          </a:solidFill>
                          <a:latin typeface="Arial"/>
                        </a:rPr>
                        <a:t>Hybrid X25519 + Kyber key agreement for messaging</a:t>
                      </a:r>
                    </a:p>
                  </a:txBody>
                  <a:tcPr marL="128016" marR="128016" marT="45720" marB="45720" anchor="ctr">
                    <a:lnL w="9525">
                      <a:solidFill>
                        <a:srgbClr val="D3DAE6"/>
                      </a:solidFill>
                    </a:lnL>
                    <a:lnR w="9525">
                      <a:solidFill>
                        <a:srgbClr val="D3DAE6"/>
                      </a:solidFill>
                    </a:lnR>
                    <a:lnT w="9525">
                      <a:solidFill>
                        <a:srgbClr val="D3DAE6"/>
                      </a:solidFill>
                    </a:lnT>
                    <a:lnB w="9525">
                      <a:solidFill>
                        <a:srgbClr val="D3DAE6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D93045"/>
                          </a:solidFill>
                          <a:latin typeface="Arial"/>
                        </a:rPr>
                        <a:t>Built for asynchronous chat, not proximity device pairing</a:t>
                      </a:r>
                    </a:p>
                  </a:txBody>
                  <a:tcPr marL="128016" marR="128016" marT="45720" marB="45720" anchor="ctr">
                    <a:lnL w="9525">
                      <a:solidFill>
                        <a:srgbClr val="D3DAE6"/>
                      </a:solidFill>
                    </a:lnL>
                    <a:lnR w="9525">
                      <a:solidFill>
                        <a:srgbClr val="D3DAE6"/>
                      </a:solidFill>
                    </a:lnR>
                    <a:lnT w="9525">
                      <a:solidFill>
                        <a:srgbClr val="D3DAE6"/>
                      </a:solidFill>
                    </a:lnT>
                    <a:lnB w="9525">
                      <a:solidFill>
                        <a:srgbClr val="D3DAE6"/>
                      </a:solidFill>
                    </a:lnB>
                    <a:solidFill>
                      <a:srgbClr val="F4F6FA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  <a:latin typeface="Arial"/>
                        </a:rPr>
                        <a:t>Hybrid TLS 1.3 — X25519MLKEM768</a:t>
                      </a:r>
                    </a:p>
                    <a:p>
                      <a:r>
                        <a:rPr sz="1000" b="0">
                          <a:solidFill>
                            <a:srgbClr val="5B6478"/>
                          </a:solidFill>
                          <a:latin typeface="Arial"/>
                        </a:rPr>
                        <a:t>(IETF draft, browsers 2024)</a:t>
                      </a:r>
                    </a:p>
                  </a:txBody>
                  <a:tcPr marL="128016" marR="128016" marT="45720" marB="45720" anchor="ctr">
                    <a:lnL w="9525">
                      <a:solidFill>
                        <a:srgbClr val="D3DAE6"/>
                      </a:solidFill>
                    </a:lnL>
                    <a:lnR w="9525">
                      <a:solidFill>
                        <a:srgbClr val="D3DAE6"/>
                      </a:solidFill>
                    </a:lnR>
                    <a:lnT w="9525">
                      <a:solidFill>
                        <a:srgbClr val="D3DAE6"/>
                      </a:solidFill>
                    </a:lnT>
                    <a:lnB w="9525">
                      <a:solidFill>
                        <a:srgbClr val="D3DA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74151"/>
                          </a:solidFill>
                          <a:latin typeface="Arial"/>
                        </a:rPr>
                        <a:t>Hybrid classical + post-quantum key exchange in the TLS handshake</a:t>
                      </a:r>
                    </a:p>
                  </a:txBody>
                  <a:tcPr marL="128016" marR="128016" marT="45720" marB="45720" anchor="ctr">
                    <a:lnL w="9525">
                      <a:solidFill>
                        <a:srgbClr val="D3DAE6"/>
                      </a:solidFill>
                    </a:lnL>
                    <a:lnR w="9525">
                      <a:solidFill>
                        <a:srgbClr val="D3DAE6"/>
                      </a:solidFill>
                    </a:lnR>
                    <a:lnT w="9525">
                      <a:solidFill>
                        <a:srgbClr val="D3DAE6"/>
                      </a:solidFill>
                    </a:lnT>
                    <a:lnB w="9525">
                      <a:solidFill>
                        <a:srgbClr val="D3DA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D93045"/>
                          </a:solidFill>
                          <a:latin typeface="Arial"/>
                        </a:rPr>
                        <a:t>Relies on certificate PKI; not peer-to-peer</a:t>
                      </a:r>
                    </a:p>
                  </a:txBody>
                  <a:tcPr marL="128016" marR="128016" marT="45720" marB="45720" anchor="ctr">
                    <a:lnL w="9525">
                      <a:solidFill>
                        <a:srgbClr val="D3DAE6"/>
                      </a:solidFill>
                    </a:lnL>
                    <a:lnR w="9525">
                      <a:solidFill>
                        <a:srgbClr val="D3DAE6"/>
                      </a:solidFill>
                    </a:lnR>
                    <a:lnT w="9525">
                      <a:solidFill>
                        <a:srgbClr val="D3DAE6"/>
                      </a:solidFill>
                    </a:lnT>
                    <a:lnB w="9525">
                      <a:solidFill>
                        <a:srgbClr val="D3DA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  <a:latin typeface="Arial"/>
                        </a:rPr>
                        <a:t>NIST FIPS 203 (ML-KEM, 2024)</a:t>
                      </a:r>
                    </a:p>
                    <a:p>
                      <a:r>
                        <a:rPr sz="1000" b="0">
                          <a:solidFill>
                            <a:srgbClr val="5B6478"/>
                          </a:solidFill>
                          <a:latin typeface="Arial"/>
                        </a:rPr>
                        <a:t>NIST LWC — ASCON (2023)</a:t>
                      </a:r>
                    </a:p>
                  </a:txBody>
                  <a:tcPr marL="128016" marR="128016" marT="45720" marB="45720" anchor="ctr">
                    <a:lnL w="9525">
                      <a:solidFill>
                        <a:srgbClr val="D3DAE6"/>
                      </a:solidFill>
                    </a:lnL>
                    <a:lnR w="9525">
                      <a:solidFill>
                        <a:srgbClr val="D3DAE6"/>
                      </a:solidFill>
                    </a:lnR>
                    <a:lnT w="9525">
                      <a:solidFill>
                        <a:srgbClr val="D3DAE6"/>
                      </a:solidFill>
                    </a:lnT>
                    <a:lnB w="9525">
                      <a:solidFill>
                        <a:srgbClr val="D3DAE6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74151"/>
                          </a:solidFill>
                          <a:latin typeface="Arial"/>
                        </a:rPr>
                        <a:t>Standardised post-quantum KEM and lightweight AEAD</a:t>
                      </a:r>
                    </a:p>
                  </a:txBody>
                  <a:tcPr marL="128016" marR="128016" marT="45720" marB="45720" anchor="ctr">
                    <a:lnL w="9525">
                      <a:solidFill>
                        <a:srgbClr val="D3DAE6"/>
                      </a:solidFill>
                    </a:lnL>
                    <a:lnR w="9525">
                      <a:solidFill>
                        <a:srgbClr val="D3DAE6"/>
                      </a:solidFill>
                    </a:lnR>
                    <a:lnT w="9525">
                      <a:solidFill>
                        <a:srgbClr val="D3DAE6"/>
                      </a:solidFill>
                    </a:lnT>
                    <a:lnB w="9525">
                      <a:solidFill>
                        <a:srgbClr val="D3DAE6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D93045"/>
                          </a:solidFill>
                          <a:latin typeface="Arial"/>
                        </a:rPr>
                        <a:t>Building blocks only; no pairing protocol</a:t>
                      </a:r>
                    </a:p>
                  </a:txBody>
                  <a:tcPr marL="128016" marR="128016" marT="45720" marB="45720" anchor="ctr">
                    <a:lnL w="9525">
                      <a:solidFill>
                        <a:srgbClr val="D3DAE6"/>
                      </a:solidFill>
                    </a:lnL>
                    <a:lnR w="9525">
                      <a:solidFill>
                        <a:srgbClr val="D3DAE6"/>
                      </a:solidFill>
                    </a:lnR>
                    <a:lnT w="9525">
                      <a:solidFill>
                        <a:srgbClr val="D3DAE6"/>
                      </a:solidFill>
                    </a:lnT>
                    <a:lnB w="9525">
                      <a:solidFill>
                        <a:srgbClr val="D3DAE6"/>
                      </a:solidFill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200">
                <a:solidFill>
                  <a:srgbClr val="C77A00"/>
                </a:solidFill>
                <a:latin typeface="Courier New"/>
              </a:rPr>
              <a:t>05 · 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Arial"/>
              </a:rPr>
              <a:t>What existing work leaves open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65836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C77A00"/>
                </a:solidFill>
                <a:latin typeface="Courier New"/>
              </a:rPr>
              <a:t>GAPS IDENTIFIED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258568"/>
            <a:ext cx="310896" cy="310896"/>
          </a:xfrm>
          <a:prstGeom prst="ellipse">
            <a:avLst/>
          </a:prstGeom>
          <a:solidFill>
            <a:srgbClr val="C7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225856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240280"/>
            <a:ext cx="55778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11827"/>
                </a:solidFill>
                <a:latin typeface="Arial"/>
              </a:rPr>
              <a:t>No pairing protocol combines hybrid post-quantum key exchange with a physical out-of-band trust anchor.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971800"/>
            <a:ext cx="310896" cy="310896"/>
          </a:xfrm>
          <a:prstGeom prst="ellipse">
            <a:avLst/>
          </a:prstGeom>
          <a:solidFill>
            <a:srgbClr val="C7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953512"/>
            <a:ext cx="55778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11827"/>
                </a:solidFill>
                <a:latin typeface="Arial"/>
              </a:rPr>
              <a:t>Proximity pairing in use today is classical-only — recorded sessions are exposed to future quantum attacks.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685031"/>
            <a:ext cx="310896" cy="310896"/>
          </a:xfrm>
          <a:prstGeom prst="ellipse">
            <a:avLst/>
          </a:prstGeom>
          <a:solidFill>
            <a:srgbClr val="C7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60" y="3685031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666744"/>
            <a:ext cx="55778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11827"/>
                </a:solidFill>
                <a:latin typeface="Arial"/>
              </a:rPr>
              <a:t>Reconnection after pairing often reuses long-term keys, so there is no forward secrecy between encounters.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398264"/>
            <a:ext cx="310896" cy="310896"/>
          </a:xfrm>
          <a:prstGeom prst="ellipse">
            <a:avLst/>
          </a:prstGeom>
          <a:solidFill>
            <a:srgbClr val="C7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439826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379976"/>
            <a:ext cx="55778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11827"/>
                </a:solidFill>
                <a:latin typeface="Arial"/>
              </a:rPr>
              <a:t>Lightweight AEAD (ASCON) is rarely paired with a post-quantum KEM for constrained devices.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111496"/>
            <a:ext cx="310896" cy="310896"/>
          </a:xfrm>
          <a:prstGeom prst="ellipse">
            <a:avLst/>
          </a:prstGeom>
          <a:solidFill>
            <a:srgbClr val="C7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511149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093208"/>
            <a:ext cx="55778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11827"/>
                </a:solidFill>
                <a:latin typeface="Arial"/>
              </a:rPr>
              <a:t>Few implementations make the protocol observable — there is no live view of the real cryptography for teaching or verification.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1691640"/>
            <a:ext cx="4233672" cy="4206240"/>
          </a:xfrm>
          <a:prstGeom prst="roundRect">
            <a:avLst>
              <a:gd name="adj" fmla="val 6000"/>
            </a:avLst>
          </a:prstGeom>
          <a:solidFill>
            <a:srgbClr val="E7F7F1"/>
          </a:solidFill>
          <a:ln w="15875">
            <a:solidFill>
              <a:srgbClr val="0E9F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80960" y="182880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E9F74"/>
                </a:solidFill>
                <a:latin typeface="Courier New"/>
              </a:rPr>
              <a:t>THIS PROJECT FILLS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28600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Courier New"/>
              </a:rPr>
              <a:t>X25519 + ML-KEM-768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150" b="0" i="0">
                <a:solidFill>
                  <a:srgbClr val="5B6478"/>
                </a:solidFill>
                <a:latin typeface="Arial"/>
              </a:rPr>
              <a:t>hybrid key agreement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862072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Courier New"/>
              </a:rPr>
              <a:t>QR scan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150" b="0" i="0">
                <a:solidFill>
                  <a:srgbClr val="5B6478"/>
                </a:solidFill>
                <a:latin typeface="Arial"/>
              </a:rPr>
              <a:t>physical out-of-band trust anchor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438144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Courier New"/>
              </a:rPr>
              <a:t>HKDF-SHA256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150" b="0" i="0">
                <a:solidFill>
                  <a:srgbClr val="5B6478"/>
                </a:solidFill>
                <a:latin typeface="Arial"/>
              </a:rPr>
              <a:t>one key from both secrets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014216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Courier New"/>
              </a:rPr>
              <a:t>ASCON-128a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150" b="0" i="0">
                <a:solidFill>
                  <a:srgbClr val="5B6478"/>
                </a:solidFill>
                <a:latin typeface="Arial"/>
              </a:rPr>
              <a:t>lightweight authenticated encryption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590288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Courier New"/>
              </a:rPr>
              <a:t>Ephemeral keys + MAC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150" b="0" i="0">
                <a:solidFill>
                  <a:srgbClr val="5B6478"/>
                </a:solidFill>
                <a:latin typeface="Arial"/>
              </a:rPr>
              <a:t>forward-secret proximity reconnect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516636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Courier New"/>
              </a:rPr>
              <a:t>Live visualizer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150" b="0" i="0">
                <a:solidFill>
                  <a:srgbClr val="5B6478"/>
                </a:solidFill>
                <a:latin typeface="Arial"/>
              </a:rPr>
              <a:t>every operation shown in real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1">
                <a:solidFill>
                  <a:srgbClr val="C77A00"/>
                </a:solidFill>
                <a:latin typeface="Arial"/>
              </a:rPr>
              <a:t>Gap in one line: secure, post-quantum, proximity-based pairing with forward secrecy — built for small devices.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200">
                <a:solidFill>
                  <a:srgbClr val="7C3AED"/>
                </a:solidFill>
                <a:latin typeface="Courier New"/>
              </a:rPr>
              <a:t>20 ·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Arial"/>
              </a:rPr>
              <a:t>Who built what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422392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5422392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68680" y="201168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VK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01168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  <a:latin typeface="Arial"/>
              </a:rPr>
              <a:t>Vikram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999232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234440" y="2926080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74151"/>
                </a:solidFill>
                <a:latin typeface="Arial"/>
              </a:rPr>
              <a:t>Protocol design and threat model (eavesdropper, MITM, quantum)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621024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34440" y="3547872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74151"/>
                </a:solidFill>
                <a:latin typeface="Arial"/>
              </a:rPr>
              <a:t>core/ — X25519, ML-KEM-768, HKDF-SHA256 and ASCON-128a primitives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242816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34440" y="4169664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74151"/>
                </a:solidFill>
                <a:latin typeface="Arial"/>
              </a:rPr>
              <a:t>pairing/ — key generation, QR encoding and fingerprint verification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864608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34440" y="4791456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74151"/>
                </a:solidFill>
                <a:latin typeface="Arial"/>
              </a:rPr>
              <a:t>MITM attack analysis and security-properties mapping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91640"/>
            <a:ext cx="5422392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217920" y="1691640"/>
            <a:ext cx="5422392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537959" y="201168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37959" y="20116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01168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  <a:latin typeface="Arial"/>
              </a:rPr>
              <a:t>Kanika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2999232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03720" y="2926080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74151"/>
                </a:solidFill>
                <a:latin typeface="Arial"/>
              </a:rPr>
              <a:t>proximity/ — ephemeral-key reconnect and MAC authentication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3621024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903720" y="3547872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74151"/>
                </a:solidFill>
                <a:latin typeface="Arial"/>
              </a:rPr>
              <a:t>Trust store, device recognition and stranger-attack rejection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4242816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903720" y="4169664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74151"/>
                </a:solidFill>
                <a:latin typeface="Arial"/>
              </a:rPr>
              <a:t>website/ — FastAPI + WebSocket backend and live visualizer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0" y="4864608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903720" y="4791456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74151"/>
                </a:solidFill>
                <a:latin typeface="Arial"/>
              </a:rPr>
              <a:t>Testing of attack scenarios (MITM, stranger, reconnect)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2960" y="571500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E9F74"/>
                </a:solidFill>
                <a:latin typeface="Arial"/>
              </a:rPr>
              <a:t>Together: </a:t>
            </a:r>
            <a:r>
              <a:rPr sz="1300" b="0" i="0">
                <a:solidFill>
                  <a:srgbClr val="111827"/>
                </a:solidFill>
                <a:latin typeface="Arial"/>
              </a:rPr>
              <a:t>integration of the full pairing flow, end-to-end testing, documentation and this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Device Pairing &amp; Proximity Exchange</dc:title>
  <dc:subject>PptxGenJS Presentation</dc:subject>
  <dc:creator>PptxGenJS</dc:creator>
  <cp:lastModifiedBy>PptxGenJS</cp:lastModifiedBy>
  <cp:revision>1</cp:revision>
  <dcterms:created xsi:type="dcterms:W3CDTF">2026-09-22T20:02:01Z</dcterms:created>
  <dcterms:modified xsi:type="dcterms:W3CDTF">2026-09-22T20:02:01Z</dcterms:modified>
</cp:coreProperties>
</file>