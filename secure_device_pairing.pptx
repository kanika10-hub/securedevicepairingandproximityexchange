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CRYPTOGRAPHIC PROTOCOL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Device Pairing &amp; Proximity Exchange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classical + post-quantum cryptographic pairing protocol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892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4892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A97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ML-KEM-768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489204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2ED3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48920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HKDF-SHA256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4892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ASCON-128a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737360"/>
            <a:ext cx="3200400" cy="3200400"/>
          </a:xfrm>
          <a:prstGeom prst="ellipse">
            <a:avLst/>
          </a:prstGeom>
          <a:solidFill>
            <a:srgbClr val="2ED3A0">
              <a:alpha val="8000"/>
            </a:srgbClr>
          </a:solidFill>
          <a:ln w="12700">
            <a:solidFill>
              <a:srgbClr val="2ED3A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2331720"/>
            <a:ext cx="2011680" cy="2011680"/>
          </a:xfrm>
          <a:prstGeom prst="ellipse">
            <a:avLst/>
          </a:prstGeom>
          <a:solidFill>
            <a:srgbClr val="2ED3A0">
              <a:alpha val="15000"/>
            </a:srgbClr>
          </a:solidFill>
          <a:ln w="12700">
            <a:solidFill>
              <a:srgbClr val="2ED3A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2788920"/>
            <a:ext cx="1097280" cy="1097280"/>
          </a:xfrm>
          <a:prstGeom prst="ellipse">
            <a:avLst/>
          </a:prstGeom>
          <a:solidFill>
            <a:srgbClr val="FFB547">
              <a:alpha val="30000"/>
            </a:srgbClr>
          </a:solidFill>
          <a:ln w="12700">
            <a:solidFill>
              <a:srgbClr val="FFB54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965960"/>
            <a:ext cx="1325880" cy="2743200"/>
          </a:xfrm>
          <a:prstGeom prst="roundRect">
            <a:avLst>
              <a:gd name="adj" fmla="val 12414"/>
            </a:avLst>
          </a:prstGeom>
          <a:solidFill>
            <a:srgbClr val="1A2440"/>
          </a:solidFill>
          <a:ln w="25400">
            <a:solidFill>
              <a:srgbClr val="4F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2240280"/>
            <a:ext cx="1051560" cy="2103120"/>
          </a:xfrm>
          <a:prstGeom prst="roundRect">
            <a:avLst>
              <a:gd name="adj" fmla="val 5217"/>
            </a:avLst>
          </a:prstGeom>
          <a:solidFill>
            <a:srgbClr val="0A0F1E"/>
          </a:solidFill>
          <a:ln w="12700">
            <a:solidFill>
              <a:srgbClr val="2A365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88" y="2788920"/>
            <a:ext cx="640080" cy="6400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223760" y="4846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378440" y="1965960"/>
            <a:ext cx="1325880" cy="2743200"/>
          </a:xfrm>
          <a:prstGeom prst="roundRect">
            <a:avLst>
              <a:gd name="adj" fmla="val 12414"/>
            </a:avLst>
          </a:prstGeom>
          <a:solidFill>
            <a:srgbClr val="1A2440"/>
          </a:solidFill>
          <a:ln w="25400">
            <a:solidFill>
              <a:srgbClr val="A970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15600" y="2240280"/>
            <a:ext cx="1051560" cy="2103120"/>
          </a:xfrm>
          <a:prstGeom prst="roundRect">
            <a:avLst>
              <a:gd name="adj" fmla="val 5217"/>
            </a:avLst>
          </a:prstGeom>
          <a:solidFill>
            <a:srgbClr val="0A0F1E"/>
          </a:solidFill>
          <a:ln w="12700">
            <a:solidFill>
              <a:srgbClr val="2A365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2788920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378440" y="4846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B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595360" y="3337560"/>
            <a:ext cx="320040" cy="0"/>
          </a:xfrm>
          <a:prstGeom prst="line">
            <a:avLst/>
          </a:prstGeom>
          <a:noFill/>
          <a:ln w="19050">
            <a:solidFill>
              <a:srgbClr val="2ED3A0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10012680" y="3337560"/>
            <a:ext cx="320040" cy="0"/>
          </a:xfrm>
          <a:prstGeom prst="line">
            <a:avLst/>
          </a:prstGeom>
          <a:noFill/>
          <a:ln w="19050">
            <a:solidFill>
              <a:srgbClr val="2ED3A0"/>
            </a:solidFill>
            <a:prstDash val="dash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adversaries, one pairing channel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rgbClr val="1A2440"/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3464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34640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B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Eavesdropper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all network traffic, hoping to read the data now or decrypt it later.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5087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828800"/>
            <a:ext cx="914400" cy="914400"/>
          </a:xfrm>
          <a:prstGeom prst="ellipse">
            <a:avLst/>
          </a:prstGeom>
          <a:solidFill>
            <a:srgbClr val="1A2440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2940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29400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Man-in-the-Middle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two devices and substitutes its own keys so each side unknowingly talks to the attacker.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138160" y="15087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58200" y="1828800"/>
            <a:ext cx="914400" cy="914400"/>
          </a:xfrm>
          <a:prstGeom prst="ellipse">
            <a:avLst/>
          </a:prstGeom>
          <a:solidFill>
            <a:srgbClr val="1A2440"/>
          </a:solidFill>
          <a:ln w="12700">
            <a:solidFill>
              <a:srgbClr val="A970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057400"/>
            <a:ext cx="457200" cy="457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42416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A970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0424160" y="2103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A97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Adversary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quantum computer to break classical crypto — including traffic recorded years earlier.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2ED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all three requires more than one algorithm.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CRYPTO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primitives, layered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589520" cy="987552"/>
          </a:xfrm>
          <a:prstGeom prst="roundRect">
            <a:avLst>
              <a:gd name="adj" fmla="val 9259"/>
            </a:avLst>
          </a:prstGeom>
          <a:solidFill>
            <a:srgbClr val="121A2F"/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28216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ASCON-128a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and authenticates data with the session key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59105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snooping and tampering — the message stays private and any modification is detected.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2633472"/>
            <a:ext cx="7370064" cy="987552"/>
          </a:xfrm>
          <a:prstGeom prst="roundRect">
            <a:avLst>
              <a:gd name="adj" fmla="val 9259"/>
            </a:avLst>
          </a:prstGeom>
          <a:solidFill>
            <a:srgbClr val="121A2F"/>
          </a:solidFill>
          <a:ln w="19050">
            <a:solidFill>
              <a:srgbClr val="2E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898648"/>
            <a:ext cx="457200" cy="457200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27980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HKDF-SHA256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3163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secrets into one key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13048" y="2761488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a single broken input — the session key stays strong while either secret holds.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" y="3803904"/>
            <a:ext cx="7150608" cy="987552"/>
          </a:xfrm>
          <a:prstGeom prst="roundRect">
            <a:avLst>
              <a:gd name="adj" fmla="val 9259"/>
            </a:avLst>
          </a:prstGeom>
          <a:solidFill>
            <a:srgbClr val="121A2F"/>
          </a:solidFill>
          <a:ln w="19050">
            <a:solidFill>
              <a:srgbClr val="A97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" y="4069080"/>
            <a:ext cx="457200" cy="457200"/>
          </a:xfrm>
          <a:prstGeom prst="ellipse">
            <a:avLst/>
          </a:prstGeom>
          <a:solidFill>
            <a:srgbClr val="A970FF"/>
          </a:solidFill>
          <a:ln w="12700">
            <a:solidFill>
              <a:srgbClr val="A97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36776" y="3968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ML-KEM-768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36776" y="4334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key encapsulation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22776" y="3931920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quantum adversaries — lattice math that Shor’s algorithm cannot shortcut.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7824" y="4974336"/>
            <a:ext cx="6931152" cy="987552"/>
          </a:xfrm>
          <a:prstGeom prst="roundRect">
            <a:avLst>
              <a:gd name="adj" fmla="val 9259"/>
            </a:avLst>
          </a:prstGeom>
          <a:solidFill>
            <a:srgbClr val="121A2F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6424" y="5239512"/>
            <a:ext cx="457200" cy="45720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6424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746504" y="5138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746504" y="5504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key agreement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32504" y="5102352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today’s attackers with fast, mature elliptic-curve Diffie-Hellman.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1463040"/>
            <a:ext cx="3136392" cy="4498848"/>
          </a:xfrm>
          <a:prstGeom prst="roundRect">
            <a:avLst>
              <a:gd name="adj" fmla="val 2915"/>
            </a:avLst>
          </a:prstGeom>
          <a:solidFill>
            <a:srgbClr val="1A2440"/>
          </a:solidFill>
          <a:ln w="19050">
            <a:solidFill>
              <a:srgbClr val="2ED3A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73736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77824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D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X25519 alone is not enough.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778240" y="3474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must break both X25519 and ML-KEM-768 simultaneously to recover the session key.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778240" y="48920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77824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857232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378440" y="48920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A970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378440" y="4892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172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→ top: key agreement → key derivation → encryption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X25519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Elliptic Curve Diffie-Hellman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Curve25519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elliptic curve over the prime field 2²⁵⁵ − 19, designed by Daniel J. Bernstein. X25519 is Diffie-Hellman key agreement on this curve.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1A2440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1821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337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Montgomery ladder — fast even on phones and embedded chips.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1A2440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87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resistant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secret-dependent branches or memory lookups to leak timing.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1A2440"/>
          </a:solidFill>
          <a:ln w="12700">
            <a:solidFill>
              <a:srgbClr val="4F8C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937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weak parameters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5349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fully explained constants — nothing hidden, every 32-byte key is valid.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35040" y="1508760"/>
            <a:ext cx="5605272" cy="3063240"/>
          </a:xfrm>
          <a:prstGeom prst="roundRect">
            <a:avLst>
              <a:gd name="adj" fmla="val 2985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093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generates:  </a:t>
            </a:r>
            <a:pPr indent="0" marL="0">
              <a:buNone/>
            </a:pPr>
            <a:r>
              <a:rPr lang="en-US" sz="140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(private scalar)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40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a·G</a:t>
            </a:r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(public key)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generates:    </a:t>
            </a:r>
            <a:pPr indent="0" marL="0">
              <a:buNone/>
            </a:pPr>
            <a:r>
              <a:rPr lang="en-US" sz="140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(private scalar)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buNone/>
            </a:pPr>
            <a:r>
              <a:rPr lang="en-US" sz="140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b·G</a:t>
            </a:r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(public key)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secret:    </a:t>
            </a:r>
            <a:pPr indent="0" marL="0">
              <a:buNone/>
            </a:pPr>
            <a:r>
              <a:rPr lang="en-US" sz="140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a·B = b·A = ab·G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base point of Curve25519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035040" y="4800600"/>
            <a:ext cx="5605272" cy="1508760"/>
          </a:xfrm>
          <a:prstGeom prst="roundRect">
            <a:avLst>
              <a:gd name="adj" fmla="val 6061"/>
            </a:avLst>
          </a:prstGeom>
          <a:solidFill>
            <a:srgbClr val="1A2440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093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eavesdropper sees A and B but cannot compute ab·G — the Elliptic Curve Discrete Logarithm Problem.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ML-KEM-768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Key Encapsulation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2514600"/>
          </a:xfrm>
          <a:prstGeom prst="roundRect">
            <a:avLst>
              <a:gd name="adj" fmla="val 3636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X25519 breaks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Shor’s algorithm</a:t>
            </a:r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solves the elliptic-curve discrete log problem in polynomial time on a quantum computer.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recorded today can be decrypted once such a machine exists.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SIZES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54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7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40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4754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7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5440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4754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97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5440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0" y="1508760"/>
            <a:ext cx="6611112" cy="3291840"/>
          </a:xfrm>
          <a:prstGeom prst="roundRect">
            <a:avLst>
              <a:gd name="adj" fmla="val 277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LEARNING WITH ERRORS (MLWE)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205740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key:  </a:t>
            </a:r>
            <a:pPr indent="0" marL="0">
              <a:buNone/>
            </a:pPr>
            <a:r>
              <a:rPr lang="en-US" sz="130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 = A·s + 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 = random matrix, s = secret, e = small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Encapsulate: 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c, shared secret 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(A·r + e₁,  b·r + e₂ + ⌊q/2⌋·m)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Decapsulate: 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 m from c using private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130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same K derived from 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0" y="5029200"/>
            <a:ext cx="6611112" cy="1280160"/>
          </a:xfrm>
          <a:prstGeom prst="roundRect">
            <a:avLst>
              <a:gd name="adj" fmla="val 7143"/>
            </a:avLst>
          </a:prstGeom>
          <a:solidFill>
            <a:srgbClr val="1A2440"/>
          </a:solidFill>
          <a:ln w="19050">
            <a:solidFill>
              <a:srgbClr val="A970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30952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080760" y="51389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quantum algorithm breaks MLWE efficiently.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as NIST FIPS 203 (2024).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HKDF-SHA256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Two Secrets Into One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 secret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 secret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297680" cy="658368"/>
          </a:xfrm>
          <a:prstGeom prst="line">
            <a:avLst/>
          </a:prstGeom>
          <a:noFill/>
          <a:ln w="203200">
            <a:solidFill>
              <a:srgbClr val="4F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31520" y="2633472"/>
            <a:ext cx="4297680" cy="658368"/>
          </a:xfrm>
          <a:prstGeom prst="line">
            <a:avLst/>
          </a:prstGeom>
          <a:noFill/>
          <a:ln w="203200">
            <a:solidFill>
              <a:srgbClr val="A97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828800"/>
            <a:ext cx="1463040" cy="1463040"/>
          </a:xfrm>
          <a:prstGeom prst="ellipse">
            <a:avLst/>
          </a:prstGeom>
          <a:solidFill>
            <a:srgbClr val="1A2440"/>
          </a:solidFill>
          <a:ln w="31750">
            <a:solidFill>
              <a:srgbClr val="2ED3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3291840" cy="0"/>
          </a:xfrm>
          <a:prstGeom prst="line">
            <a:avLst/>
          </a:prstGeom>
          <a:noFill/>
          <a:ln w="279400">
            <a:solidFill>
              <a:srgbClr val="2E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5480" y="2240280"/>
            <a:ext cx="2084832" cy="640080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5875">
            <a:solidFill>
              <a:srgbClr val="2ED3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55480" y="22402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key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 · single, uniform key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6766560" cy="2286000"/>
          </a:xfrm>
          <a:prstGeom prst="roundRect">
            <a:avLst>
              <a:gd name="adj" fmla="val 4000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EXTRACT, THEN EXPAND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26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PRK = HMAC-SHA256(salt, </a:t>
            </a:r>
            <a:pPr indent="0" marL="0">
              <a:buNone/>
            </a:pPr>
            <a:r>
              <a:rPr lang="en-US" sz="130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X25519_secret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</a:t>
            </a:r>
            <a:pPr indent="0" marL="0">
              <a:buNone/>
            </a:pPr>
            <a:r>
              <a:rPr lang="en-US" sz="130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ML-KEM_secret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= HMAC-SHA256(PRK, info ∥ 0x01)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864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domain-separation string (e.g. </a:t>
            </a:r>
            <a:pPr indent="0" marL="0">
              <a:buNone/>
            </a:pPr>
            <a:r>
              <a:rPr lang="en-US" sz="130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"pairing-v1"</a:t>
            </a:r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 keys derived for different purposes are always distinct.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4023360"/>
            <a:ext cx="4050792" cy="2286000"/>
          </a:xfrm>
          <a:prstGeom prst="roundRect">
            <a:avLst>
              <a:gd name="adj" fmla="val 4000"/>
            </a:avLst>
          </a:prstGeom>
          <a:solidFill>
            <a:srgbClr val="1A2440"/>
          </a:solidFill>
          <a:ln w="19050">
            <a:solidFill>
              <a:srgbClr val="2ED3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PROPERTY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55371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one input secret is weak or compromised, the output key is still as strong as the other input.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ASCON-128a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Encryption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19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seals plaintext with key + fresh nonce; KEM ciphertext bound as 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05072" y="2354580"/>
            <a:ext cx="329184" cy="0"/>
          </a:xfrm>
          <a:prstGeom prst="line">
            <a:avLst/>
          </a:prstGeom>
          <a:noFill/>
          <a:ln w="25400">
            <a:solidFill>
              <a:srgbClr val="FFB54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407408" y="1463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76088" y="1719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81728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nonce, ciphertext and tag cross the untrusted network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863840" y="2354580"/>
            <a:ext cx="329184" cy="0"/>
          </a:xfrm>
          <a:prstGeom prst="line">
            <a:avLst/>
          </a:prstGeom>
          <a:noFill/>
          <a:ln w="25400">
            <a:solidFill>
              <a:srgbClr val="FFB547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266176" y="146304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2ED3A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6916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34856" y="1719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+ Verify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40496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checks the tag first — any altered byte means rejection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097280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097280" y="38130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reveals nothing about the plaintext.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" y="43616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" y="4654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authentication tag detects any tampering in transit.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4864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097280" y="5202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data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097280" y="5495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KEM ciphertext is authenticated without being encrypted — any modification is caught.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053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ASCON won the NIST Lightweight Cryptography competition (2023).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943600" y="3520440"/>
            <a:ext cx="5696712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72200" y="3703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Encrypt:  </a:t>
            </a:r>
            <a:pPr indent="0" marL="0">
              <a:buNone/>
            </a:pPr>
            <a:r>
              <a:rPr lang="en-US" sz="10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(ciphertext, tag) = ASCON(key, nonce, plaintext, 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Decrypt:  </a:t>
            </a:r>
            <a:pPr indent="0" marL="0">
              <a:buNone/>
            </a:pPr>
            <a:r>
              <a:rPr lang="en-US" sz="105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 = ASCON⁻¹(key, nonce, ciphertext, 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5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FAILS if tag doesn’t match (tamper detected)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943600" y="5486400"/>
            <a:ext cx="5696712" cy="841248"/>
          </a:xfrm>
          <a:prstGeom prst="roundRect">
            <a:avLst>
              <a:gd name="adj" fmla="val 10870"/>
            </a:avLst>
          </a:prstGeom>
          <a:solidFill>
            <a:srgbClr val="1A2440"/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72200" y="553212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must never repeat with the same key — a fresh random nonce is generated for every message.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ll device pairing flowchart: Device A and Device B swim lanes with the network channel between them, steps 01 to 15 ending in Pairing Comple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818" y="182880"/>
            <a:ext cx="3427557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529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FULL DEVICE PAIRING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7529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pairing protocol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7529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publishes its public keys out-of-band via QR. Device B derives a hybrid session key and sends back one encrypted message. The session key never crosses the network.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4261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426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01–03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606040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880360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X25519 + ML-KEM-768 keypairs and shows them as a QR code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0098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2EC4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009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264408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538728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scans the QR from A’s screen — never over the network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9593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A970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9593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05–09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3922776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4197096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+ Encaps → HKDF session key → ASCON-encrypts its own keys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6177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581144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wire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4855464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B_pub, kem_ct, nonce and ct — useless without a private key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2760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11–14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5239512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513832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Decaps + DH → identical session key → decrypts, tag verified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59344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21A2F"/>
          </a:solidFill>
          <a:ln w="15875">
            <a:solidFill>
              <a:srgbClr val="2ED3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59344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5897880"/>
            <a:ext cx="6478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600200" y="6172200"/>
            <a:ext cx="6478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screens show the same SHA-256 fingerprint → pairing complete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TM attack flowchart: Device A, Attacker (Eve) and Device B lanes, showing where the attack breaks at the out-of-band QR scan and the fingerprint mismat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204" y="182880"/>
            <a:ext cx="4899171" cy="6492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6058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MITM ATTACK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60580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MITM attack &amp; why it fails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60580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tries to swap in her own keys and relay traffic between the devices. Two independent defences stop her.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6058084" cy="1417320"/>
          </a:xfrm>
          <a:prstGeom prst="roundRect">
            <a:avLst>
              <a:gd name="adj" fmla="val 6452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624328"/>
            <a:ext cx="365760" cy="36576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06040"/>
            <a:ext cx="5052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is out-of-band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56008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has no access to Device A’s physical screen. B always scans the real </a:t>
            </a:r>
            <a:pPr indent="0" marL="0">
              <a:buNone/>
            </a:pPr>
            <a:r>
              <a:rPr lang="en-US" sz="140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A_pub</a:t>
            </a:r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— the scan is the trust anchor.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6058084" cy="1417320"/>
          </a:xfrm>
          <a:prstGeom prst="roundRect">
            <a:avLst>
              <a:gd name="adj" fmla="val 6452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224528"/>
            <a:ext cx="365760" cy="36576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206240"/>
            <a:ext cx="5052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mismatch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709160"/>
            <a:ext cx="56008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keys were substituted, </a:t>
            </a:r>
            <a:pPr indent="0" marL="0">
              <a:buNone/>
            </a:pPr>
            <a:r>
              <a:rPr lang="en-US" sz="140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fp_A ≠ fp_B</a:t>
            </a:r>
            <a:pPr indent="0" marL="0">
              <a:buNone/>
            </a:pP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Reading the fingerprints aloud exposes the attack immediately.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6058084" cy="868680"/>
          </a:xfrm>
          <a:prstGeom prst="roundRect">
            <a:avLst>
              <a:gd name="adj" fmla="val 10526"/>
            </a:avLst>
          </a:prstGeom>
          <a:solidFill>
            <a:srgbClr val="2A1520"/>
          </a:solidFill>
          <a:ln w="19050">
            <a:solidFill>
              <a:srgbClr val="FF5C6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623560"/>
            <a:ext cx="56008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blocked: both defences must be defeated at once — physically and computationally infeasible.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OUT-OF-BAND CHANNEL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QR code never touches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0" cy="484632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926080"/>
            <a:ext cx="1280160" cy="2468880"/>
          </a:xfrm>
          <a:prstGeom prst="roundRect">
            <a:avLst>
              <a:gd name="adj" fmla="val 11429"/>
            </a:avLst>
          </a:prstGeom>
          <a:solidFill>
            <a:srgbClr val="1A2440"/>
          </a:solidFill>
          <a:ln w="25400">
            <a:solidFill>
              <a:srgbClr val="4F8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3182112"/>
            <a:ext cx="1042416" cy="1874520"/>
          </a:xfrm>
          <a:prstGeom prst="roundRect">
            <a:avLst>
              <a:gd name="adj" fmla="val 4386"/>
            </a:avLst>
          </a:prstGeom>
          <a:solidFill>
            <a:srgbClr val="0A0F1E"/>
          </a:solidFill>
          <a:ln w="12700">
            <a:solidFill>
              <a:srgbClr val="2A36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379476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2926080"/>
            <a:ext cx="1280160" cy="2468880"/>
          </a:xfrm>
          <a:prstGeom prst="roundRect">
            <a:avLst>
              <a:gd name="adj" fmla="val 11429"/>
            </a:avLst>
          </a:prstGeom>
          <a:solidFill>
            <a:srgbClr val="1A2440"/>
          </a:solidFill>
          <a:ln w="25400">
            <a:solidFill>
              <a:srgbClr val="A970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5112" y="3182112"/>
            <a:ext cx="1042416" cy="1874520"/>
          </a:xfrm>
          <a:prstGeom prst="roundRect">
            <a:avLst>
              <a:gd name="adj" fmla="val 4386"/>
            </a:avLst>
          </a:prstGeom>
          <a:solidFill>
            <a:srgbClr val="0A0F1E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25112" y="393192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scanning…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flipV="1">
            <a:off x="2011680" y="2057400"/>
            <a:ext cx="1005840" cy="777240"/>
          </a:xfrm>
          <a:prstGeom prst="line">
            <a:avLst/>
          </a:prstGeom>
          <a:noFill/>
          <a:ln w="25400">
            <a:solidFill>
              <a:srgbClr val="2ED3A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749040" y="2057400"/>
            <a:ext cx="914400" cy="777240"/>
          </a:xfrm>
          <a:prstGeom prst="line">
            <a:avLst/>
          </a:prstGeom>
          <a:noFill/>
          <a:ln w="25400">
            <a:solidFill>
              <a:srgbClr val="2ED3A0"/>
            </a:solidFill>
            <a:prstDash val="dash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17520" y="16916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548640" cy="548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1720" y="256032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1720" y="2560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OVER NETWORK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20624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B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852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proximity · line-of-sight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SURFACE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1874520"/>
            <a:ext cx="5056632" cy="960120"/>
          </a:xfrm>
          <a:prstGeom prst="roundRect">
            <a:avLst>
              <a:gd name="adj" fmla="val 9524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031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543800" y="1965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channel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can read, modify, replay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583680" y="3017520"/>
            <a:ext cx="5056632" cy="960120"/>
          </a:xfrm>
          <a:prstGeom prst="roundRect">
            <a:avLst>
              <a:gd name="adj" fmla="val 9524"/>
            </a:avLst>
          </a:prstGeom>
          <a:solidFill>
            <a:srgbClr val="121A2F"/>
          </a:solidFill>
          <a:ln w="15875">
            <a:solidFill>
              <a:srgbClr val="2ED3A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24612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43800" y="3108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physical proximity and line-of-sight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sufficient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583680" y="46634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carries only ciphertext and KEM encapsulations. The keys themselves are bootstrapped entirely through the QR, so an attacker with no physical access cannot substitute keys.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FORWARD SECRECY &amp; PROXIMITY RECONNECT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keys every encounter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long-term keys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key is used every session and later leaked, every past session is decryptable.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9164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9164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6032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6032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29000" y="44805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29000" y="4480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120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one leaked key → all sessions exposed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1463040"/>
            <a:ext cx="6702552" cy="2377440"/>
          </a:xfrm>
          <a:prstGeom prst="roundRect">
            <a:avLst>
              <a:gd name="adj" fmla="val 3846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1627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 · EPHEMERAL KEYS, EACH ENCOUNTER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19659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 generates fresh:  </a:t>
            </a:r>
            <a:pPr indent="0" marL="0">
              <a:buNone/>
            </a:pPr>
            <a:r>
              <a:rPr lang="en-US" sz="11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eph_x_priv, eph_x_pub</a:t>
            </a:r>
            <a:pPr indent="0" marL="0">
              <a:buNone/>
            </a:pPr>
            <a:r>
              <a:rPr lang="en-US" sz="11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(X25519)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</a:t>
            </a:r>
            <a:pPr indent="0" marL="0">
              <a:buNone/>
            </a:pPr>
            <a:r>
              <a:rPr lang="en-US" sz="1150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eph_pq</a:t>
            </a:r>
            <a:pPr indent="0" marL="0">
              <a:buNone/>
            </a:pPr>
            <a:r>
              <a:rPr lang="en-US" sz="11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(ML-KEM)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= HKDF(eph_x_priv·B_eph_pub ∥ Encaps(eph_pq_pub))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 discarded after session ends.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937760" y="4023360"/>
            <a:ext cx="6702552" cy="2286000"/>
          </a:xfrm>
          <a:prstGeom prst="roundRect">
            <a:avLst>
              <a:gd name="adj" fmla="val 4000"/>
            </a:avLst>
          </a:prstGeom>
          <a:solidFill>
            <a:srgbClr val="1A2440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4160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does Device B know it’s talking to the real Device A?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45720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= HMAC-SHA256( HKDF(</a:t>
            </a:r>
            <a:pPr indent="0" marL="0">
              <a:buNone/>
            </a:pPr>
            <a:r>
              <a:rPr lang="en-US" sz="11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long_term_X25519_secret</a:t>
            </a:r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device_id ∥ eph_x_pub ∥ eph_pq_pub 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53035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device that completed the original QR pairing knows the long-term secret needed to produce a valid MAC.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TRUST FRAMEWORK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recognition &amp; the trust store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463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on Device B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108960"/>
                <a:gridCol w="31363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device_id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X25519 public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ML-KEM public 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8C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long-term secret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D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device-a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9f3c…7a21 (32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b41e…c90d (1184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HKDF(b_priv · A_pub)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D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laptop-7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2d88…14ef (32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77ac…0b3a (1184 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HKDF(b_priv · L_pub)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108960"/>
            <a:ext cx="5408676" cy="2697480"/>
          </a:xfrm>
          <a:prstGeom prst="roundRect">
            <a:avLst>
              <a:gd name="adj" fmla="val 3390"/>
            </a:avLst>
          </a:prstGeom>
          <a:solidFill>
            <a:srgbClr val="121A2F"/>
          </a:solidFill>
          <a:ln w="15875">
            <a:solidFill>
              <a:srgbClr val="2ED3A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73552"/>
            <a:ext cx="347472" cy="3474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32735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4672" y="3831336"/>
            <a:ext cx="256032" cy="256032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4672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188720" y="37947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receives a connection request from </a:t>
            </a:r>
            <a:pPr indent="0" marL="0">
              <a:buNone/>
            </a:pPr>
            <a:r>
              <a:rPr lang="en-US" sz="12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device-a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4672" y="4215384"/>
            <a:ext cx="256032" cy="256032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04672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41788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</a:t>
            </a:r>
            <a:pPr indent="0" marL="0">
              <a:buNone/>
            </a:pPr>
            <a:r>
              <a:rPr lang="en-US" sz="12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device-a</a:t>
            </a:r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trust store → FOUND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4672" y="4599432"/>
            <a:ext cx="256032" cy="256032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04672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88720" y="456285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the expected MAC with the stored long-term key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4672" y="4983480"/>
            <a:ext cx="256032" cy="256032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88720" y="49469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HMAC-compare(expected, received) → match ✓ (constant-time)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04672" y="5367528"/>
            <a:ext cx="256032" cy="256032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04672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88720" y="53309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to the ephemeral key exchange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31636" y="3108960"/>
            <a:ext cx="5408676" cy="2697480"/>
          </a:xfrm>
          <a:prstGeom prst="roundRect">
            <a:avLst>
              <a:gd name="adj" fmla="val 3390"/>
            </a:avLst>
          </a:prstGeom>
          <a:solidFill>
            <a:srgbClr val="121A2F"/>
          </a:solidFill>
          <a:ln w="15875">
            <a:solidFill>
              <a:srgbClr val="FF5C6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327355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17436" y="32735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487668" y="3831336"/>
            <a:ext cx="256032" cy="256032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87668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871716" y="37947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device sends a request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487668" y="4215384"/>
            <a:ext cx="256032" cy="256032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487668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871716" y="41788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store lookup → NOT FOUND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6487668" y="4599432"/>
            <a:ext cx="256032" cy="256032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487668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871716" y="456285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rejection — no response, no error, no information leak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6487668" y="4983480"/>
            <a:ext cx="256032" cy="256032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487668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871716" y="494690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would also fail independently (defense in depth)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1A2440"/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comparison (</a:t>
            </a:r>
            <a:pPr indent="0" marL="0">
              <a:buNone/>
            </a:pPr>
            <a:r>
              <a:rPr lang="en-US" sz="130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hmac.compare_digest</a:t>
            </a:r>
            <a:pPr indent="0" marL="0">
              <a:buNone/>
            </a:pPr>
            <a:r>
              <a:rPr lang="en-US" sz="13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prevents timing side-channels that could leak whether the MAC was close to correct.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STRANGER ATTACK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stranger tries to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7752" y="16459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generates an identity and ephemeral keys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63824" y="2354580"/>
            <a:ext cx="192024" cy="0"/>
          </a:xfrm>
          <a:prstGeom prst="line">
            <a:avLst/>
          </a:prstGeom>
          <a:noFill/>
          <a:ln w="22225">
            <a:solidFill>
              <a:srgbClr val="FF5C6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627632"/>
            <a:ext cx="365760" cy="36576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6459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pairing secret with Device B → uses a random 32-byte key to compute a fake MAC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98464" y="2354580"/>
            <a:ext cx="192024" cy="0"/>
          </a:xfrm>
          <a:prstGeom prst="line">
            <a:avLst/>
          </a:prstGeom>
          <a:noFill/>
          <a:ln w="22225">
            <a:solidFill>
              <a:srgbClr val="FF5C6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1792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0" y="1627632"/>
            <a:ext cx="365760" cy="36576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6459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</a:t>
            </a:r>
            <a:pPr indent="0" marL="0">
              <a:buNone/>
            </a:pPr>
            <a:r>
              <a:rPr lang="en-US" sz="12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(device_id="stranger-007", eph_keys, fake_mac)</a:t>
            </a:r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Device B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833104" y="2354580"/>
            <a:ext cx="192024" cy="0"/>
          </a:xfrm>
          <a:prstGeom prst="line">
            <a:avLst/>
          </a:prstGeom>
          <a:noFill/>
          <a:ln w="22225">
            <a:solidFill>
              <a:srgbClr val="FF5C6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52560" y="1463040"/>
            <a:ext cx="2587752" cy="1783080"/>
          </a:xfrm>
          <a:prstGeom prst="roundRect">
            <a:avLst>
              <a:gd name="adj" fmla="val 5128"/>
            </a:avLst>
          </a:prstGeom>
          <a:solidFill>
            <a:srgbClr val="2A1520"/>
          </a:solidFill>
          <a:ln w="19050">
            <a:solidFill>
              <a:srgbClr val="FF5C6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35440" y="1627632"/>
            <a:ext cx="365760" cy="36576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354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164592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35440" y="210312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B: trust store lookup for </a:t>
            </a:r>
            <a:pPr indent="0" marL="0">
              <a:buNone/>
            </a:pPr>
            <a:r>
              <a:rPr lang="en-US" sz="12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stranger-007</a:t>
            </a:r>
            <a:pPr indent="0" marL="0">
              <a:buNone/>
            </a:pPr>
            <a:r>
              <a:rPr lang="en-US" sz="12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NOT FOUND → silent drop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3520440"/>
            <a:ext cx="6858000" cy="2788920"/>
          </a:xfrm>
          <a:prstGeom prst="roundRect">
            <a:avLst>
              <a:gd name="adj" fmla="val 3279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3685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IF DEVICE B CHECKED THE MAC ANYWAY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406908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= HMAC-SHA256(</a:t>
            </a:r>
            <a:pPr indent="0" marL="0">
              <a:buNone/>
            </a:pPr>
            <a:r>
              <a:rPr lang="en-US" sz="135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HKDF(b_priv · A_pub)</a:t>
            </a:r>
            <a:pPr indent="0" marL="0">
              <a:buNone/>
            </a:pPr>
            <a:r>
              <a:rPr lang="en-US" sz="13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stranger_data)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= HMAC-SHA256(</a:t>
            </a:r>
            <a:pPr indent="0" marL="0">
              <a:buNone/>
            </a:pPr>
            <a:r>
              <a:rPr lang="en-US" sz="1350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random_key</a:t>
            </a:r>
            <a:pPr indent="0" marL="0">
              <a:buNone/>
            </a:pPr>
            <a:r>
              <a:rPr lang="en-US" sz="13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stranger_data)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≠ Received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P(collision) ≈ 1/2²⁵⁶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680960" y="3520440"/>
            <a:ext cx="3959352" cy="2788920"/>
          </a:xfrm>
          <a:prstGeom prst="roundRect">
            <a:avLst>
              <a:gd name="adj" fmla="val 3279"/>
            </a:avLst>
          </a:prstGeom>
          <a:solidFill>
            <a:srgbClr val="1A2440"/>
          </a:solidFill>
          <a:ln w="19050">
            <a:solidFill>
              <a:srgbClr val="2ED3A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74904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503920" y="3813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PROPERTY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955280" y="43434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original QR pairing, an attacker cannot forge a valid MAC for any device in the trust store — the long-term secret was never transmitted.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SECURITY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threat, a matching mechanism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935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D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D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D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Defeated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ASCON-128a encryption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eavesdropper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 authentication tag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 tampering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MITM resistance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QR out-of-band + fingerprint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MITM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Post-quantum security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ML-KEM-768 (MLWE)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computer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secrecy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Ephemeral keys per session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compromise after session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HMAC-SHA256 long-term MAC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Impersonation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Stranger rejection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 store + silent drop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Unsolicited connections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EC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attack resistance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54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hmac.compare_digest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3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oracle side-channel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ARCHITECTURE &amp; 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primitives to a live visualizer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121A2F"/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backend, live visualizer 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0" cy="320040"/>
          </a:xfrm>
          <a:prstGeom prst="line">
            <a:avLst/>
          </a:prstGeom>
          <a:noFill/>
          <a:ln w="19050">
            <a:solidFill>
              <a:srgbClr val="93A0B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2468880"/>
            <a:ext cx="0" cy="320040"/>
          </a:xfrm>
          <a:prstGeom prst="line">
            <a:avLst/>
          </a:prstGeom>
          <a:noFill/>
          <a:ln w="19050">
            <a:solidFill>
              <a:srgbClr val="93A0B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2286000" cy="1325880"/>
          </a:xfrm>
          <a:prstGeom prst="roundRect">
            <a:avLst>
              <a:gd name="adj" fmla="val 6897"/>
            </a:avLst>
          </a:prstGeom>
          <a:solidFill>
            <a:srgbClr val="121A2F"/>
          </a:solidFill>
          <a:ln w="15875">
            <a:solidFill>
              <a:srgbClr val="A97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pairing/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644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generation, QR encoding, fingerprint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2286000" cy="1325880"/>
          </a:xfrm>
          <a:prstGeom prst="roundRect">
            <a:avLst>
              <a:gd name="adj" fmla="val 6897"/>
            </a:avLst>
          </a:prstGeom>
          <a:solidFill>
            <a:srgbClr val="121A2F"/>
          </a:solidFill>
          <a:ln w="15875">
            <a:solidFill>
              <a:srgbClr val="2ED3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proximity/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2644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protocol, MAC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4206240"/>
            <a:ext cx="0" cy="320040"/>
          </a:xfrm>
          <a:prstGeom prst="line">
            <a:avLst/>
          </a:prstGeom>
          <a:noFill/>
          <a:ln w="19050">
            <a:solidFill>
              <a:srgbClr val="93A0B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4206240"/>
            <a:ext cx="0" cy="320040"/>
          </a:xfrm>
          <a:prstGeom prst="line">
            <a:avLst/>
          </a:prstGeom>
          <a:noFill/>
          <a:ln w="19050">
            <a:solidFill>
              <a:srgbClr val="93A0B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57200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121A2F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681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001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· ML-KEM · HKDF · ASCON primitives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463040"/>
            <a:ext cx="5971032" cy="4114800"/>
          </a:xfrm>
          <a:prstGeom prst="roundRect">
            <a:avLst>
              <a:gd name="adj" fmla="val 2222"/>
            </a:avLst>
          </a:prstGeom>
          <a:solidFill>
            <a:srgbClr val="121A2F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591056"/>
            <a:ext cx="118872" cy="118872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91056"/>
            <a:ext cx="118872" cy="118872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591056"/>
            <a:ext cx="118872" cy="118872"/>
          </a:xfrm>
          <a:prstGeom prst="ellipse">
            <a:avLst/>
          </a:prstGeom>
          <a:solidFill>
            <a:srgbClr val="2ED3A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15270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 · pairing visualizer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5875">
            <a:solidFill>
              <a:srgbClr val="2ED3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97880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9168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9168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0456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0456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81744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A2440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81744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237744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1A2440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3504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27889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x25519_pub  9f3c…7a21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mlkem_pub   b41e…c90d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shared_S_x  e07b…1f44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5ac2…9d10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262872" y="237744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1A2440"/>
          </a:solidFill>
          <a:ln w="12700">
            <a:solidFill>
              <a:srgbClr val="A970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00032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97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B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400032" y="27889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x25519_pub  9f3c…7a21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mlkem_pub   b41e…c90d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shared_S_x  e07b…1f44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session_key 5ac2…9d10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654796" y="2377440"/>
            <a:ext cx="0" cy="1828800"/>
          </a:xfrm>
          <a:prstGeom prst="line">
            <a:avLst/>
          </a:prstGeom>
          <a:noFill/>
          <a:ln w="19050">
            <a:solidFill>
              <a:srgbClr val="FFB547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8334756" y="28803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34756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ct_kem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34756" y="347472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34756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97880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97880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keygen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31736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31736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QR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65592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2ED3A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65592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encaps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299448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299448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HKDF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433304" y="44348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A244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433304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verify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177272" y="1517904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177272" y="1517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buttons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406908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92240" y="4069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panels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996428" y="384048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996428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divider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177272" y="507492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77272" y="5074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cards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8521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cryptographic operation shown in the demo is real — the keys, ciphertexts, and shared secrets are computed live, not simulated.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Device Pairing &amp; Proximity Exchange</dc:title>
  <dc:subject>PptxGenJS Presentation</dc:subject>
  <dc:creator>PptxGenJS</dc:creator>
  <cp:lastModifiedBy>PptxGenJS</cp:lastModifiedBy>
  <cp:revision>1</cp:revision>
  <dcterms:created xsi:type="dcterms:W3CDTF">2026-09-22T20:02:01Z</dcterms:created>
  <dcterms:modified xsi:type="dcterms:W3CDTF">2026-09-22T20:02:01Z</dcterms:modified>
</cp:coreProperties>
</file>